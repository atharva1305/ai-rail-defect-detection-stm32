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4" autoAdjust="0"/>
    <p:restoredTop sz="94610"/>
  </p:normalViewPr>
  <p:slideViewPr>
    <p:cSldViewPr snapToGrid="0" snapToObjects="1">
      <p:cViewPr varScale="1">
        <p:scale>
          <a:sx n="85" d="100"/>
          <a:sy n="85" d="100"/>
        </p:scale>
        <p:origin x="45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Acceleration (g)</c:v>
                </c:pt>
              </c:strCache>
            </c:strRef>
          </c:tx>
          <c:spPr>
            <a:ln w="22225" cap="flat">
              <a:solidFill>
                <a:srgbClr val="1E3A8A"/>
              </a:solidFill>
              <a:prstDash val="solid"/>
              <a:round/>
            </a:ln>
            <a:effectLst/>
          </c:spPr>
          <c:marker>
            <c:symbol val="none"/>
          </c:marker>
          <c:cat>
            <c:strRef>
              <c:f>Sheet1!$A$2:$A$61</c:f>
              <c:strCache>
                <c:ptCount val="60"/>
              </c:strCache>
            </c:strRef>
          </c:cat>
          <c:val>
            <c:numRef>
              <c:f>Sheet1!$B$2:$B$61</c:f>
              <c:numCache>
                <c:formatCode>General</c:formatCode>
                <c:ptCount val="60"/>
                <c:pt idx="0">
                  <c:v>0</c:v>
                </c:pt>
                <c:pt idx="1">
                  <c:v>0.433</c:v>
                </c:pt>
                <c:pt idx="2">
                  <c:v>0.43</c:v>
                </c:pt>
                <c:pt idx="3">
                  <c:v>0.49299999999999999</c:v>
                </c:pt>
                <c:pt idx="4">
                  <c:v>0.67600000000000005</c:v>
                </c:pt>
                <c:pt idx="5">
                  <c:v>0.39700000000000002</c:v>
                </c:pt>
                <c:pt idx="6">
                  <c:v>-6.5000000000000002E-2</c:v>
                </c:pt>
                <c:pt idx="7">
                  <c:v>-0.17100000000000001</c:v>
                </c:pt>
                <c:pt idx="8">
                  <c:v>-0.32500000000000001</c:v>
                </c:pt>
                <c:pt idx="9">
                  <c:v>-0.69299999999999995</c:v>
                </c:pt>
                <c:pt idx="10">
                  <c:v>-0.64900000000000002</c:v>
                </c:pt>
                <c:pt idx="11">
                  <c:v>-0.27800000000000002</c:v>
                </c:pt>
                <c:pt idx="12">
                  <c:v>-0.16900000000000001</c:v>
                </c:pt>
                <c:pt idx="13">
                  <c:v>-1.4999999999999999E-2</c:v>
                </c:pt>
                <c:pt idx="14">
                  <c:v>0.47099999999999997</c:v>
                </c:pt>
                <c:pt idx="15">
                  <c:v>0.66800000000000004</c:v>
                </c:pt>
                <c:pt idx="16">
                  <c:v>0.46300000000000002</c:v>
                </c:pt>
                <c:pt idx="17">
                  <c:v>0.442</c:v>
                </c:pt>
                <c:pt idx="18">
                  <c:v>0.39700000000000002</c:v>
                </c:pt>
                <c:pt idx="19">
                  <c:v>-8.5999999999999993E-2</c:v>
                </c:pt>
                <c:pt idx="20">
                  <c:v>-0.45500000000000002</c:v>
                </c:pt>
                <c:pt idx="21">
                  <c:v>-0.42</c:v>
                </c:pt>
                <c:pt idx="22">
                  <c:v>-0.52700000000000002</c:v>
                </c:pt>
                <c:pt idx="23">
                  <c:v>-0.67100000000000004</c:v>
                </c:pt>
                <c:pt idx="24">
                  <c:v>-0.31900000000000001</c:v>
                </c:pt>
                <c:pt idx="25">
                  <c:v>0.104</c:v>
                </c:pt>
                <c:pt idx="26">
                  <c:v>0.17499999999999999</c:v>
                </c:pt>
                <c:pt idx="27">
                  <c:v>0.378</c:v>
                </c:pt>
                <c:pt idx="28">
                  <c:v>0.72599999999999998</c:v>
                </c:pt>
                <c:pt idx="29">
                  <c:v>0.59699999999999998</c:v>
                </c:pt>
                <c:pt idx="30">
                  <c:v>0.24</c:v>
                </c:pt>
                <c:pt idx="31">
                  <c:v>0.16600000000000001</c:v>
                </c:pt>
                <c:pt idx="32">
                  <c:v>-4.4999999999999998E-2</c:v>
                </c:pt>
                <c:pt idx="33">
                  <c:v>-0.53600000000000003</c:v>
                </c:pt>
                <c:pt idx="34">
                  <c:v>-0.64900000000000002</c:v>
                </c:pt>
                <c:pt idx="35">
                  <c:v>-0.44</c:v>
                </c:pt>
                <c:pt idx="36">
                  <c:v>-0.45500000000000002</c:v>
                </c:pt>
                <c:pt idx="37">
                  <c:v>-0.34899999999999998</c:v>
                </c:pt>
                <c:pt idx="38">
                  <c:v>0.16900000000000001</c:v>
                </c:pt>
                <c:pt idx="39">
                  <c:v>0.46600000000000003</c:v>
                </c:pt>
                <c:pt idx="40">
                  <c:v>0.41599999999999998</c:v>
                </c:pt>
                <c:pt idx="41">
                  <c:v>0.55000000000000004</c:v>
                </c:pt>
                <c:pt idx="42">
                  <c:v>0.30299999999999999</c:v>
                </c:pt>
                <c:pt idx="43">
                  <c:v>-0.39400000000000002</c:v>
                </c:pt>
                <c:pt idx="44">
                  <c:v>-0.96</c:v>
                </c:pt>
                <c:pt idx="45">
                  <c:v>-1.083</c:v>
                </c:pt>
                <c:pt idx="46">
                  <c:v>-0.437</c:v>
                </c:pt>
                <c:pt idx="47">
                  <c:v>-0.745</c:v>
                </c:pt>
                <c:pt idx="48">
                  <c:v>-0.53800000000000003</c:v>
                </c:pt>
                <c:pt idx="49">
                  <c:v>-0.21099999999999999</c:v>
                </c:pt>
                <c:pt idx="50">
                  <c:v>-0.159</c:v>
                </c:pt>
                <c:pt idx="51">
                  <c:v>0.113</c:v>
                </c:pt>
                <c:pt idx="52">
                  <c:v>0.59</c:v>
                </c:pt>
                <c:pt idx="53">
                  <c:v>0.621</c:v>
                </c:pt>
                <c:pt idx="54">
                  <c:v>0.42399999999999999</c:v>
                </c:pt>
                <c:pt idx="55">
                  <c:v>0.46400000000000002</c:v>
                </c:pt>
                <c:pt idx="56">
                  <c:v>0.28899999999999998</c:v>
                </c:pt>
                <c:pt idx="57">
                  <c:v>-0.245</c:v>
                </c:pt>
                <c:pt idx="58">
                  <c:v>-0.46800000000000003</c:v>
                </c:pt>
                <c:pt idx="59">
                  <c:v>-0.41799999999999998</c:v>
                </c:pt>
              </c:numCache>
            </c:numRef>
          </c:val>
          <c:smooth val="0"/>
          <c:extLst>
            <c:ext xmlns:c16="http://schemas.microsoft.com/office/drawing/2014/chart" uri="{C3380CC4-5D6E-409C-BE32-E72D297353CC}">
              <c16:uniqueId val="{00000000-976E-4B4C-88C7-865AEA1043B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03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Good [morning/afternoon], I am presenting our EDI project titled AI-Based Acoustic Wave Monitoring System for Rail Defect Detection and Predictive Rail Health Monitoring. This project combines embedded sensing, signal processing and AI to improve railway safety. Over the next few minutes I will walk you through the motivation, our literature review, the research gap we identified, and the work completed so far.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Railway safety depends on catching defects early. Manual inspection cannot scale to thousands of track kilometres, and it is subjective. Vibration and acoustic monitoring lets us listen to the track continuously through the wheel-rail interaction. Our system flow is simple: the train excites the rail, a sensor captures the vibration, the ESP32 digitises and pre-processes it, an AI model classifies the signal, and an alert is raised if a defect is likely.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reviewed three representative papers. Suwansin and Phasukkit used a single acoustic-emission sensor with a deep learning classifier but tested mainly in lab conditions. Li et al. combined wavelet transforms with a multi-branch CNN for better classification, at the cost of computation. And the DR-Train work by Liu et al. showed that onboard accelerometers can detect track-geometry changes, but not localized cracks. This comparison shaped our own design choices.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Recent literature points us toward multimodal datasets like Rail-VIVID, and toward real deployable vibration datasets such as DR-Train. Deep learning, especially CNN and wavelet-CNN hybrids, is now achieving strong classification accuracy, and there is a clear trend toward running lightweight AI models directly on edge hardware like the ESP32, which is exactly the direction our project takes.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 the left are the limitations we identified across the literature: lab-only testing, geometry-only detection, and a lack of real-time, field-ready systems. On the right is how we plan to address each of these. The core research gap, highlighted at the bottom, is that no existing low-cost system fuses acoustic and vibration sensing with on-edge AI for real-time, defect-specific alerts — and that is exactly the space our project targets.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Our problem statement follows three stages. Currently, manual inspection cannot catch early defects reliably. Our solution is a low-cost embedded AI system that continuously senses and classifies rail vibration and acoustic signals. The expected output is real-time defect alerts through a predictive dashboard. On the right, the flowchart shows exactly how a signal moves from the rail through the sensor, ESP32, signal processing and AI model, to a final alert.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Our planned methodology has seven stages: data collection from the sensor, signal filtering to remove noise, FFT analysis to move into the frequency domain, feature extraction, machine learning classification, defect detection, and finally a live dashboard. The technology stack box shows the concrete tools we are using — ESP32 and MPU6050 for hardware, Python and TensorFlow for the model, and Streamlit for the dashboard.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dashboard summarizes our progress. We have completed topic finalization, the literature review, dataset research, and hardware selection. We are currently in progress on dataset exploration and signal-processing experiments. The AI model, prototype build, and dashboard remain upcoming and are our focus for the second half of the semester.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These are the six key references underpinning our review — the Rail-VIVID and DR-Train datasets, two acoustic-emission deep learning papers, and the official ESP32 and TensorFlow documentation we are using for implementation. Thank you — I am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9.png"/><Relationship Id="rId7"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10" Type="http://schemas.openxmlformats.org/officeDocument/2006/relationships/image" Target="../media/image16.png"/><Relationship Id="rId4" Type="http://schemas.openxmlformats.org/officeDocument/2006/relationships/image" Target="../media/image2.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74920"/>
            <a:ext cx="12191695" cy="1783080"/>
          </a:xfrm>
          <a:prstGeom prst="rect">
            <a:avLst/>
          </a:prstGeom>
          <a:solidFill>
            <a:srgbClr val="15295E"/>
          </a:solidFill>
          <a:ln/>
        </p:spPr>
        <p:txBody>
          <a:bodyPr/>
          <a:lstStyle/>
          <a:p>
            <a:endParaRPr lang="en-IN"/>
          </a:p>
        </p:txBody>
      </p:sp>
      <p:sp>
        <p:nvSpPr>
          <p:cNvPr id="3" name="Shape 1"/>
          <p:cNvSpPr/>
          <p:nvPr/>
        </p:nvSpPr>
        <p:spPr>
          <a:xfrm>
            <a:off x="0" y="5577840"/>
            <a:ext cx="12191695" cy="0"/>
          </a:xfrm>
          <a:prstGeom prst="line">
            <a:avLst/>
          </a:prstGeom>
          <a:noFill/>
          <a:ln w="25400">
            <a:solidFill>
              <a:srgbClr val="5B7FBE"/>
            </a:solidFill>
            <a:prstDash val="solid"/>
          </a:ln>
        </p:spPr>
        <p:txBody>
          <a:bodyPr/>
          <a:lstStyle/>
          <a:p>
            <a:endParaRPr lang="en-IN"/>
          </a:p>
        </p:txBody>
      </p:sp>
      <p:sp>
        <p:nvSpPr>
          <p:cNvPr id="4" name="Shape 2"/>
          <p:cNvSpPr/>
          <p:nvPr/>
        </p:nvSpPr>
        <p:spPr>
          <a:xfrm>
            <a:off x="0" y="6309360"/>
            <a:ext cx="12191695" cy="0"/>
          </a:xfrm>
          <a:prstGeom prst="line">
            <a:avLst/>
          </a:prstGeom>
          <a:noFill/>
          <a:ln w="25400">
            <a:solidFill>
              <a:srgbClr val="5B7FBE"/>
            </a:solidFill>
            <a:prstDash val="solid"/>
          </a:ln>
        </p:spPr>
        <p:txBody>
          <a:bodyPr/>
          <a:lstStyle/>
          <a:p>
            <a:endParaRPr lang="en-IN"/>
          </a:p>
        </p:txBody>
      </p:sp>
      <p:sp>
        <p:nvSpPr>
          <p:cNvPr id="5" name="Shape 3"/>
          <p:cNvSpPr/>
          <p:nvPr/>
        </p:nvSpPr>
        <p:spPr>
          <a:xfrm>
            <a:off x="137160" y="5513832"/>
            <a:ext cx="146304" cy="859536"/>
          </a:xfrm>
          <a:prstGeom prst="rect">
            <a:avLst/>
          </a:prstGeom>
          <a:solidFill>
            <a:srgbClr val="2C4487"/>
          </a:solidFill>
          <a:ln/>
        </p:spPr>
        <p:txBody>
          <a:bodyPr/>
          <a:lstStyle/>
          <a:p>
            <a:endParaRPr lang="en-IN"/>
          </a:p>
        </p:txBody>
      </p:sp>
      <p:sp>
        <p:nvSpPr>
          <p:cNvPr id="6" name="Shape 4"/>
          <p:cNvSpPr/>
          <p:nvPr/>
        </p:nvSpPr>
        <p:spPr>
          <a:xfrm>
            <a:off x="704088" y="5513832"/>
            <a:ext cx="146304" cy="859536"/>
          </a:xfrm>
          <a:prstGeom prst="rect">
            <a:avLst/>
          </a:prstGeom>
          <a:solidFill>
            <a:srgbClr val="2C4487"/>
          </a:solidFill>
          <a:ln/>
        </p:spPr>
        <p:txBody>
          <a:bodyPr/>
          <a:lstStyle/>
          <a:p>
            <a:endParaRPr lang="en-IN"/>
          </a:p>
        </p:txBody>
      </p:sp>
      <p:sp>
        <p:nvSpPr>
          <p:cNvPr id="7" name="Shape 5"/>
          <p:cNvSpPr/>
          <p:nvPr/>
        </p:nvSpPr>
        <p:spPr>
          <a:xfrm>
            <a:off x="1271016" y="5513832"/>
            <a:ext cx="146304" cy="859536"/>
          </a:xfrm>
          <a:prstGeom prst="rect">
            <a:avLst/>
          </a:prstGeom>
          <a:solidFill>
            <a:srgbClr val="2C4487"/>
          </a:solidFill>
          <a:ln/>
        </p:spPr>
        <p:txBody>
          <a:bodyPr/>
          <a:lstStyle/>
          <a:p>
            <a:endParaRPr lang="en-IN"/>
          </a:p>
        </p:txBody>
      </p:sp>
      <p:sp>
        <p:nvSpPr>
          <p:cNvPr id="8" name="Shape 6"/>
          <p:cNvSpPr/>
          <p:nvPr/>
        </p:nvSpPr>
        <p:spPr>
          <a:xfrm>
            <a:off x="1837944" y="5513832"/>
            <a:ext cx="146304" cy="859536"/>
          </a:xfrm>
          <a:prstGeom prst="rect">
            <a:avLst/>
          </a:prstGeom>
          <a:solidFill>
            <a:srgbClr val="2C4487"/>
          </a:solidFill>
          <a:ln/>
        </p:spPr>
        <p:txBody>
          <a:bodyPr/>
          <a:lstStyle/>
          <a:p>
            <a:endParaRPr lang="en-IN"/>
          </a:p>
        </p:txBody>
      </p:sp>
      <p:sp>
        <p:nvSpPr>
          <p:cNvPr id="9" name="Shape 7"/>
          <p:cNvSpPr/>
          <p:nvPr/>
        </p:nvSpPr>
        <p:spPr>
          <a:xfrm>
            <a:off x="2404872" y="5513832"/>
            <a:ext cx="146304" cy="859536"/>
          </a:xfrm>
          <a:prstGeom prst="rect">
            <a:avLst/>
          </a:prstGeom>
          <a:solidFill>
            <a:srgbClr val="2C4487"/>
          </a:solidFill>
          <a:ln/>
        </p:spPr>
        <p:txBody>
          <a:bodyPr/>
          <a:lstStyle/>
          <a:p>
            <a:endParaRPr lang="en-IN"/>
          </a:p>
        </p:txBody>
      </p:sp>
      <p:sp>
        <p:nvSpPr>
          <p:cNvPr id="10" name="Shape 8"/>
          <p:cNvSpPr/>
          <p:nvPr/>
        </p:nvSpPr>
        <p:spPr>
          <a:xfrm>
            <a:off x="2971800" y="5513832"/>
            <a:ext cx="146304" cy="859536"/>
          </a:xfrm>
          <a:prstGeom prst="rect">
            <a:avLst/>
          </a:prstGeom>
          <a:solidFill>
            <a:srgbClr val="2C4487"/>
          </a:solidFill>
          <a:ln/>
        </p:spPr>
        <p:txBody>
          <a:bodyPr/>
          <a:lstStyle/>
          <a:p>
            <a:endParaRPr lang="en-IN"/>
          </a:p>
        </p:txBody>
      </p:sp>
      <p:sp>
        <p:nvSpPr>
          <p:cNvPr id="11" name="Shape 9"/>
          <p:cNvSpPr/>
          <p:nvPr/>
        </p:nvSpPr>
        <p:spPr>
          <a:xfrm>
            <a:off x="3538728" y="5513832"/>
            <a:ext cx="146304" cy="859536"/>
          </a:xfrm>
          <a:prstGeom prst="rect">
            <a:avLst/>
          </a:prstGeom>
          <a:solidFill>
            <a:srgbClr val="2C4487"/>
          </a:solidFill>
          <a:ln/>
        </p:spPr>
        <p:txBody>
          <a:bodyPr/>
          <a:lstStyle/>
          <a:p>
            <a:endParaRPr lang="en-IN"/>
          </a:p>
        </p:txBody>
      </p:sp>
      <p:sp>
        <p:nvSpPr>
          <p:cNvPr id="12" name="Shape 10"/>
          <p:cNvSpPr/>
          <p:nvPr/>
        </p:nvSpPr>
        <p:spPr>
          <a:xfrm>
            <a:off x="4105656" y="5513832"/>
            <a:ext cx="146304" cy="859536"/>
          </a:xfrm>
          <a:prstGeom prst="rect">
            <a:avLst/>
          </a:prstGeom>
          <a:solidFill>
            <a:srgbClr val="2C4487"/>
          </a:solidFill>
          <a:ln/>
        </p:spPr>
        <p:txBody>
          <a:bodyPr/>
          <a:lstStyle/>
          <a:p>
            <a:endParaRPr lang="en-IN"/>
          </a:p>
        </p:txBody>
      </p:sp>
      <p:sp>
        <p:nvSpPr>
          <p:cNvPr id="13" name="Shape 11"/>
          <p:cNvSpPr/>
          <p:nvPr/>
        </p:nvSpPr>
        <p:spPr>
          <a:xfrm>
            <a:off x="4672584" y="5513832"/>
            <a:ext cx="146304" cy="859536"/>
          </a:xfrm>
          <a:prstGeom prst="rect">
            <a:avLst/>
          </a:prstGeom>
          <a:solidFill>
            <a:srgbClr val="2C4487"/>
          </a:solidFill>
          <a:ln/>
        </p:spPr>
        <p:txBody>
          <a:bodyPr/>
          <a:lstStyle/>
          <a:p>
            <a:endParaRPr lang="en-IN"/>
          </a:p>
        </p:txBody>
      </p:sp>
      <p:sp>
        <p:nvSpPr>
          <p:cNvPr id="14" name="Shape 12"/>
          <p:cNvSpPr/>
          <p:nvPr/>
        </p:nvSpPr>
        <p:spPr>
          <a:xfrm>
            <a:off x="5239512" y="5513832"/>
            <a:ext cx="146304" cy="859536"/>
          </a:xfrm>
          <a:prstGeom prst="rect">
            <a:avLst/>
          </a:prstGeom>
          <a:solidFill>
            <a:srgbClr val="2C4487"/>
          </a:solidFill>
          <a:ln/>
        </p:spPr>
        <p:txBody>
          <a:bodyPr/>
          <a:lstStyle/>
          <a:p>
            <a:endParaRPr lang="en-IN"/>
          </a:p>
        </p:txBody>
      </p:sp>
      <p:sp>
        <p:nvSpPr>
          <p:cNvPr id="15" name="Shape 13"/>
          <p:cNvSpPr/>
          <p:nvPr/>
        </p:nvSpPr>
        <p:spPr>
          <a:xfrm>
            <a:off x="5806440" y="5513832"/>
            <a:ext cx="146304" cy="859536"/>
          </a:xfrm>
          <a:prstGeom prst="rect">
            <a:avLst/>
          </a:prstGeom>
          <a:solidFill>
            <a:srgbClr val="2C4487"/>
          </a:solidFill>
          <a:ln/>
        </p:spPr>
        <p:txBody>
          <a:bodyPr/>
          <a:lstStyle/>
          <a:p>
            <a:endParaRPr lang="en-IN"/>
          </a:p>
        </p:txBody>
      </p:sp>
      <p:sp>
        <p:nvSpPr>
          <p:cNvPr id="16" name="Shape 14"/>
          <p:cNvSpPr/>
          <p:nvPr/>
        </p:nvSpPr>
        <p:spPr>
          <a:xfrm>
            <a:off x="6373368" y="5513832"/>
            <a:ext cx="146304" cy="859536"/>
          </a:xfrm>
          <a:prstGeom prst="rect">
            <a:avLst/>
          </a:prstGeom>
          <a:solidFill>
            <a:srgbClr val="2C4487"/>
          </a:solidFill>
          <a:ln/>
        </p:spPr>
        <p:txBody>
          <a:bodyPr/>
          <a:lstStyle/>
          <a:p>
            <a:endParaRPr lang="en-IN"/>
          </a:p>
        </p:txBody>
      </p:sp>
      <p:sp>
        <p:nvSpPr>
          <p:cNvPr id="17" name="Shape 15"/>
          <p:cNvSpPr/>
          <p:nvPr/>
        </p:nvSpPr>
        <p:spPr>
          <a:xfrm>
            <a:off x="6940296" y="5513832"/>
            <a:ext cx="146304" cy="859536"/>
          </a:xfrm>
          <a:prstGeom prst="rect">
            <a:avLst/>
          </a:prstGeom>
          <a:solidFill>
            <a:srgbClr val="2C4487"/>
          </a:solidFill>
          <a:ln/>
        </p:spPr>
        <p:txBody>
          <a:bodyPr/>
          <a:lstStyle/>
          <a:p>
            <a:endParaRPr lang="en-IN"/>
          </a:p>
        </p:txBody>
      </p:sp>
      <p:sp>
        <p:nvSpPr>
          <p:cNvPr id="18" name="Shape 16"/>
          <p:cNvSpPr/>
          <p:nvPr/>
        </p:nvSpPr>
        <p:spPr>
          <a:xfrm>
            <a:off x="7507224" y="5513832"/>
            <a:ext cx="146304" cy="859536"/>
          </a:xfrm>
          <a:prstGeom prst="rect">
            <a:avLst/>
          </a:prstGeom>
          <a:solidFill>
            <a:srgbClr val="2C4487"/>
          </a:solidFill>
          <a:ln/>
        </p:spPr>
        <p:txBody>
          <a:bodyPr/>
          <a:lstStyle/>
          <a:p>
            <a:endParaRPr lang="en-IN"/>
          </a:p>
        </p:txBody>
      </p:sp>
      <p:sp>
        <p:nvSpPr>
          <p:cNvPr id="19" name="Shape 17"/>
          <p:cNvSpPr/>
          <p:nvPr/>
        </p:nvSpPr>
        <p:spPr>
          <a:xfrm>
            <a:off x="8074152" y="5513832"/>
            <a:ext cx="146304" cy="859536"/>
          </a:xfrm>
          <a:prstGeom prst="rect">
            <a:avLst/>
          </a:prstGeom>
          <a:solidFill>
            <a:srgbClr val="2C4487"/>
          </a:solidFill>
          <a:ln/>
        </p:spPr>
        <p:txBody>
          <a:bodyPr/>
          <a:lstStyle/>
          <a:p>
            <a:endParaRPr lang="en-IN"/>
          </a:p>
        </p:txBody>
      </p:sp>
      <p:sp>
        <p:nvSpPr>
          <p:cNvPr id="20" name="Shape 18"/>
          <p:cNvSpPr/>
          <p:nvPr/>
        </p:nvSpPr>
        <p:spPr>
          <a:xfrm>
            <a:off x="8641080" y="5513832"/>
            <a:ext cx="146304" cy="859536"/>
          </a:xfrm>
          <a:prstGeom prst="rect">
            <a:avLst/>
          </a:prstGeom>
          <a:solidFill>
            <a:srgbClr val="2C4487"/>
          </a:solidFill>
          <a:ln/>
        </p:spPr>
        <p:txBody>
          <a:bodyPr/>
          <a:lstStyle/>
          <a:p>
            <a:endParaRPr lang="en-IN"/>
          </a:p>
        </p:txBody>
      </p:sp>
      <p:sp>
        <p:nvSpPr>
          <p:cNvPr id="21" name="Shape 19"/>
          <p:cNvSpPr/>
          <p:nvPr/>
        </p:nvSpPr>
        <p:spPr>
          <a:xfrm>
            <a:off x="9208008" y="5513832"/>
            <a:ext cx="146304" cy="859536"/>
          </a:xfrm>
          <a:prstGeom prst="rect">
            <a:avLst/>
          </a:prstGeom>
          <a:solidFill>
            <a:srgbClr val="2C4487"/>
          </a:solidFill>
          <a:ln/>
        </p:spPr>
        <p:txBody>
          <a:bodyPr/>
          <a:lstStyle/>
          <a:p>
            <a:endParaRPr lang="en-IN"/>
          </a:p>
        </p:txBody>
      </p:sp>
      <p:sp>
        <p:nvSpPr>
          <p:cNvPr id="22" name="Shape 20"/>
          <p:cNvSpPr/>
          <p:nvPr/>
        </p:nvSpPr>
        <p:spPr>
          <a:xfrm>
            <a:off x="9774936" y="5513832"/>
            <a:ext cx="146304" cy="859536"/>
          </a:xfrm>
          <a:prstGeom prst="rect">
            <a:avLst/>
          </a:prstGeom>
          <a:solidFill>
            <a:srgbClr val="2C4487"/>
          </a:solidFill>
          <a:ln/>
        </p:spPr>
        <p:txBody>
          <a:bodyPr/>
          <a:lstStyle/>
          <a:p>
            <a:endParaRPr lang="en-IN"/>
          </a:p>
        </p:txBody>
      </p:sp>
      <p:sp>
        <p:nvSpPr>
          <p:cNvPr id="23" name="Shape 21"/>
          <p:cNvSpPr/>
          <p:nvPr/>
        </p:nvSpPr>
        <p:spPr>
          <a:xfrm>
            <a:off x="10341864" y="5513832"/>
            <a:ext cx="146304" cy="859536"/>
          </a:xfrm>
          <a:prstGeom prst="rect">
            <a:avLst/>
          </a:prstGeom>
          <a:solidFill>
            <a:srgbClr val="2C4487"/>
          </a:solidFill>
          <a:ln/>
        </p:spPr>
        <p:txBody>
          <a:bodyPr/>
          <a:lstStyle/>
          <a:p>
            <a:endParaRPr lang="en-IN"/>
          </a:p>
        </p:txBody>
      </p:sp>
      <p:sp>
        <p:nvSpPr>
          <p:cNvPr id="24" name="Shape 22"/>
          <p:cNvSpPr/>
          <p:nvPr/>
        </p:nvSpPr>
        <p:spPr>
          <a:xfrm>
            <a:off x="10908792" y="5513832"/>
            <a:ext cx="146304" cy="859536"/>
          </a:xfrm>
          <a:prstGeom prst="rect">
            <a:avLst/>
          </a:prstGeom>
          <a:solidFill>
            <a:srgbClr val="2C4487"/>
          </a:solidFill>
          <a:ln/>
        </p:spPr>
        <p:txBody>
          <a:bodyPr/>
          <a:lstStyle/>
          <a:p>
            <a:endParaRPr lang="en-IN"/>
          </a:p>
        </p:txBody>
      </p:sp>
      <p:sp>
        <p:nvSpPr>
          <p:cNvPr id="25" name="Shape 23"/>
          <p:cNvSpPr/>
          <p:nvPr/>
        </p:nvSpPr>
        <p:spPr>
          <a:xfrm>
            <a:off x="11475720" y="5513832"/>
            <a:ext cx="146304" cy="859536"/>
          </a:xfrm>
          <a:prstGeom prst="rect">
            <a:avLst/>
          </a:prstGeom>
          <a:solidFill>
            <a:srgbClr val="2C4487"/>
          </a:solidFill>
          <a:ln/>
        </p:spPr>
        <p:txBody>
          <a:bodyPr/>
          <a:lstStyle/>
          <a:p>
            <a:endParaRPr lang="en-IN"/>
          </a:p>
        </p:txBody>
      </p:sp>
      <p:sp>
        <p:nvSpPr>
          <p:cNvPr id="26" name="Shape 24"/>
          <p:cNvSpPr/>
          <p:nvPr/>
        </p:nvSpPr>
        <p:spPr>
          <a:xfrm>
            <a:off x="12042648" y="5513832"/>
            <a:ext cx="146304" cy="859536"/>
          </a:xfrm>
          <a:prstGeom prst="rect">
            <a:avLst/>
          </a:prstGeom>
          <a:solidFill>
            <a:srgbClr val="2C4487"/>
          </a:solidFill>
          <a:ln/>
        </p:spPr>
        <p:txBody>
          <a:bodyPr/>
          <a:lstStyle/>
          <a:p>
            <a:endParaRPr lang="en-IN"/>
          </a:p>
        </p:txBody>
      </p:sp>
      <p:pic>
        <p:nvPicPr>
          <p:cNvPr id="27" name="Image 0" descr="/home/claude/edi_mse/icons/train_w.png"/>
          <p:cNvPicPr>
            <a:picLocks noChangeAspect="1"/>
          </p:cNvPicPr>
          <p:nvPr/>
        </p:nvPicPr>
        <p:blipFill>
          <a:blip r:embed="rId3"/>
          <a:stretch>
            <a:fillRect/>
          </a:stretch>
        </p:blipFill>
        <p:spPr>
          <a:xfrm>
            <a:off x="10774375" y="5458968"/>
            <a:ext cx="960120" cy="960120"/>
          </a:xfrm>
          <a:prstGeom prst="rect">
            <a:avLst/>
          </a:prstGeom>
        </p:spPr>
      </p:pic>
      <p:sp>
        <p:nvSpPr>
          <p:cNvPr id="28" name="Text 25"/>
          <p:cNvSpPr/>
          <p:nvPr/>
        </p:nvSpPr>
        <p:spPr>
          <a:xfrm>
            <a:off x="640080" y="594360"/>
            <a:ext cx="7315200" cy="365760"/>
          </a:xfrm>
          <a:prstGeom prst="rect">
            <a:avLst/>
          </a:prstGeom>
          <a:noFill/>
          <a:ln/>
        </p:spPr>
        <p:txBody>
          <a:bodyPr wrap="square" rtlCol="0" anchor="ctr"/>
          <a:lstStyle/>
          <a:p>
            <a:pPr marL="0" indent="0">
              <a:buNone/>
            </a:pPr>
            <a:r>
              <a:rPr lang="en-US" sz="1600" b="1" kern="0" spc="200" dirty="0">
                <a:solidFill>
                  <a:srgbClr val="1E3A8A"/>
                </a:solidFill>
                <a:latin typeface="Calibri" pitchFamily="34" charset="0"/>
                <a:ea typeface="Calibri" pitchFamily="34" charset="-122"/>
                <a:cs typeface="Calibri" pitchFamily="34" charset="-120"/>
              </a:rPr>
              <a:t>Engineering Research and innovation - 1 </a:t>
            </a:r>
            <a:endParaRPr lang="en-US" sz="1600" dirty="0"/>
          </a:p>
        </p:txBody>
      </p:sp>
      <p:sp>
        <p:nvSpPr>
          <p:cNvPr id="29" name="Text 26"/>
          <p:cNvSpPr/>
          <p:nvPr/>
        </p:nvSpPr>
        <p:spPr>
          <a:xfrm>
            <a:off x="640080" y="1143000"/>
            <a:ext cx="10607040" cy="1965960"/>
          </a:xfrm>
          <a:prstGeom prst="rect">
            <a:avLst/>
          </a:prstGeom>
          <a:noFill/>
          <a:ln/>
        </p:spPr>
        <p:txBody>
          <a:bodyPr wrap="square" rtlCol="0" anchor="ctr"/>
          <a:lstStyle/>
          <a:p>
            <a:pPr marL="0" indent="0" algn="l">
              <a:lnSpc>
                <a:spcPct val="108000"/>
              </a:lnSpc>
              <a:buNone/>
            </a:pPr>
            <a:r>
              <a:rPr lang="en-US" sz="3400" b="1" dirty="0">
                <a:solidFill>
                  <a:srgbClr val="1A1A1A"/>
                </a:solidFill>
                <a:latin typeface="Calibri" pitchFamily="34" charset="0"/>
                <a:ea typeface="Calibri" pitchFamily="34" charset="-122"/>
                <a:cs typeface="Calibri" pitchFamily="34" charset="-120"/>
              </a:rPr>
              <a:t>AI-Based Acoustic Wave Monitoring System for Rail Defect Detection and Predictive Rail Health Monitoring</a:t>
            </a:r>
            <a:endParaRPr lang="en-US" sz="3400" dirty="0"/>
          </a:p>
        </p:txBody>
      </p:sp>
      <p:sp>
        <p:nvSpPr>
          <p:cNvPr id="30" name="Text 27"/>
          <p:cNvSpPr/>
          <p:nvPr/>
        </p:nvSpPr>
        <p:spPr>
          <a:xfrm>
            <a:off x="658368" y="3127248"/>
            <a:ext cx="9144000" cy="365760"/>
          </a:xfrm>
          <a:prstGeom prst="rect">
            <a:avLst/>
          </a:prstGeom>
          <a:noFill/>
          <a:ln/>
        </p:spPr>
        <p:txBody>
          <a:bodyPr wrap="square" rtlCol="0" anchor="ctr"/>
          <a:lstStyle/>
          <a:p>
            <a:pPr marL="0" indent="0">
              <a:buNone/>
            </a:pPr>
            <a:r>
              <a:rPr lang="en-US" sz="1500" i="1" dirty="0">
                <a:solidFill>
                  <a:srgbClr val="5B7FBE"/>
                </a:solidFill>
                <a:latin typeface="Calibri" pitchFamily="34" charset="0"/>
                <a:ea typeface="Calibri" pitchFamily="34" charset="-122"/>
                <a:cs typeface="Calibri" pitchFamily="34" charset="-120"/>
              </a:rPr>
              <a:t>Artificial Intelligence  ·  Embedded Systems  ·  Signal Processing  ·  IoT</a:t>
            </a:r>
            <a:endParaRPr lang="en-US" sz="1500" dirty="0"/>
          </a:p>
        </p:txBody>
      </p:sp>
      <p:sp>
        <p:nvSpPr>
          <p:cNvPr id="31" name="Shape 28"/>
          <p:cNvSpPr/>
          <p:nvPr/>
        </p:nvSpPr>
        <p:spPr>
          <a:xfrm>
            <a:off x="658368" y="3611880"/>
            <a:ext cx="1920240" cy="0"/>
          </a:xfrm>
          <a:prstGeom prst="line">
            <a:avLst/>
          </a:prstGeom>
          <a:noFill/>
          <a:ln w="12700">
            <a:solidFill>
              <a:srgbClr val="DADFE8"/>
            </a:solidFill>
            <a:prstDash val="solid"/>
          </a:ln>
        </p:spPr>
        <p:txBody>
          <a:bodyPr/>
          <a:lstStyle/>
          <a:p>
            <a:endParaRPr lang="en-IN"/>
          </a:p>
        </p:txBody>
      </p:sp>
      <p:sp>
        <p:nvSpPr>
          <p:cNvPr id="32" name="Text 29"/>
          <p:cNvSpPr/>
          <p:nvPr/>
        </p:nvSpPr>
        <p:spPr>
          <a:xfrm>
            <a:off x="658368" y="3794760"/>
            <a:ext cx="6400800" cy="320040"/>
          </a:xfrm>
          <a:prstGeom prst="rect">
            <a:avLst/>
          </a:prstGeom>
          <a:noFill/>
          <a:ln/>
        </p:spPr>
        <p:txBody>
          <a:bodyPr wrap="square" rtlCol="0" anchor="ctr"/>
          <a:lstStyle/>
          <a:p>
            <a:pPr marL="0" indent="0">
              <a:buNone/>
            </a:pPr>
            <a:r>
              <a:rPr lang="en-US" sz="1600" b="1" dirty="0">
                <a:solidFill>
                  <a:srgbClr val="1E3A8A"/>
                </a:solidFill>
                <a:latin typeface="Calibri" pitchFamily="34" charset="0"/>
                <a:ea typeface="Calibri" pitchFamily="34" charset="-122"/>
                <a:cs typeface="Calibri" pitchFamily="34" charset="-120"/>
              </a:rPr>
              <a:t>Domain: </a:t>
            </a:r>
            <a:r>
              <a:rPr lang="en-US" sz="1600" dirty="0">
                <a:solidFill>
                  <a:srgbClr val="1A1A1A"/>
                </a:solidFill>
                <a:latin typeface="Calibri" pitchFamily="34" charset="0"/>
                <a:ea typeface="Calibri" pitchFamily="34" charset="-122"/>
                <a:cs typeface="Calibri" pitchFamily="34" charset="-120"/>
              </a:rPr>
              <a:t>Smart Railway Infrastructure</a:t>
            </a:r>
            <a:endParaRPr lang="en-US" sz="1600" dirty="0"/>
          </a:p>
        </p:txBody>
      </p:sp>
      <p:sp>
        <p:nvSpPr>
          <p:cNvPr id="33" name="Text 30"/>
          <p:cNvSpPr/>
          <p:nvPr/>
        </p:nvSpPr>
        <p:spPr>
          <a:xfrm>
            <a:off x="658368" y="4160520"/>
            <a:ext cx="7315200" cy="320040"/>
          </a:xfrm>
          <a:prstGeom prst="rect">
            <a:avLst/>
          </a:prstGeom>
          <a:noFill/>
          <a:ln/>
        </p:spPr>
        <p:txBody>
          <a:bodyPr wrap="square" rtlCol="0" anchor="ctr"/>
          <a:lstStyle/>
          <a:p>
            <a:pPr marL="0" indent="0">
              <a:buNone/>
            </a:pPr>
            <a:r>
              <a:rPr lang="en-US" sz="1600" b="1" dirty="0">
                <a:solidFill>
                  <a:srgbClr val="1E3A8A"/>
                </a:solidFill>
                <a:latin typeface="Calibri" pitchFamily="34" charset="0"/>
                <a:ea typeface="Calibri" pitchFamily="34" charset="-122"/>
                <a:cs typeface="Calibri" pitchFamily="34" charset="-120"/>
              </a:rPr>
              <a:t>Team: </a:t>
            </a:r>
            <a:r>
              <a:rPr lang="en-US" sz="1600" b="1" dirty="0">
                <a:solidFill>
                  <a:srgbClr val="1A1A1A"/>
                </a:solidFill>
                <a:latin typeface="Calibri" pitchFamily="34" charset="0"/>
                <a:ea typeface="Calibri" pitchFamily="34" charset="-122"/>
                <a:cs typeface="Calibri" pitchFamily="34" charset="-120"/>
              </a:rPr>
              <a:t>Atharva Bhagwat, Payal Kainge</a:t>
            </a:r>
            <a:endParaRPr lang="en-US" sz="1600" b="1" dirty="0"/>
          </a:p>
        </p:txBody>
      </p:sp>
      <p:sp>
        <p:nvSpPr>
          <p:cNvPr id="34" name="Text 31"/>
          <p:cNvSpPr/>
          <p:nvPr/>
        </p:nvSpPr>
        <p:spPr>
          <a:xfrm>
            <a:off x="658368" y="4498848"/>
            <a:ext cx="7315200" cy="320040"/>
          </a:xfrm>
          <a:prstGeom prst="rect">
            <a:avLst/>
          </a:prstGeom>
          <a:noFill/>
          <a:ln/>
        </p:spPr>
        <p:txBody>
          <a:bodyPr wrap="square" rtlCol="0" anchor="ctr"/>
          <a:lstStyle/>
          <a:p>
            <a:pPr marL="0" indent="0">
              <a:buNone/>
            </a:pPr>
            <a:r>
              <a:rPr lang="en-US" sz="1600" b="1" dirty="0">
                <a:solidFill>
                  <a:srgbClr val="1E3A8A"/>
                </a:solidFill>
                <a:latin typeface="Calibri" pitchFamily="34" charset="0"/>
                <a:ea typeface="Calibri" pitchFamily="34" charset="-122"/>
                <a:cs typeface="Calibri" pitchFamily="34" charset="-120"/>
              </a:rPr>
              <a:t>Guide: </a:t>
            </a:r>
            <a:r>
              <a:rPr lang="en-US" sz="1600" b="1" dirty="0">
                <a:solidFill>
                  <a:srgbClr val="1A1A1A"/>
                </a:solidFill>
                <a:latin typeface="Calibri" pitchFamily="34" charset="0"/>
                <a:ea typeface="Calibri" pitchFamily="34" charset="-122"/>
                <a:cs typeface="Calibri" pitchFamily="34" charset="-120"/>
              </a:rPr>
              <a:t>Medha Wyawahare, HoD ENTC, VIT Pune</a:t>
            </a:r>
            <a:endParaRPr lang="en-US" sz="1600" b="1" dirty="0"/>
          </a:p>
        </p:txBody>
      </p:sp>
      <p:sp>
        <p:nvSpPr>
          <p:cNvPr id="35" name="Text 32"/>
          <p:cNvSpPr/>
          <p:nvPr/>
        </p:nvSpPr>
        <p:spPr>
          <a:xfrm>
            <a:off x="658368" y="5760720"/>
            <a:ext cx="8659368" cy="365760"/>
          </a:xfrm>
          <a:prstGeom prst="rect">
            <a:avLst/>
          </a:prstGeom>
          <a:noFill/>
          <a:ln/>
        </p:spPr>
        <p:txBody>
          <a:bodyPr wrap="square" rtlCol="0" anchor="ctr"/>
          <a:lstStyle/>
          <a:p>
            <a:pPr marL="0" indent="0">
              <a:buNone/>
            </a:pPr>
            <a:r>
              <a:rPr lang="en-US" b="1" dirty="0">
                <a:solidFill>
                  <a:srgbClr val="C7D2EF"/>
                </a:solidFill>
                <a:latin typeface="Calibri" pitchFamily="34" charset="0"/>
                <a:ea typeface="Calibri" pitchFamily="34" charset="-122"/>
                <a:cs typeface="Calibri" pitchFamily="34" charset="-120"/>
              </a:rPr>
              <a:t>Department of Electronics &amp; Telecommunication Engineering  ·  Mid Semester Evaluation</a:t>
            </a:r>
            <a:endParaRPr lang="en-US" b="1" dirty="0"/>
          </a:p>
        </p:txBody>
      </p:sp>
      <p:sp>
        <p:nvSpPr>
          <p:cNvPr id="37" name="Text 33"/>
          <p:cNvSpPr/>
          <p:nvPr/>
        </p:nvSpPr>
        <p:spPr>
          <a:xfrm>
            <a:off x="11551615" y="6473952"/>
            <a:ext cx="457200" cy="274320"/>
          </a:xfrm>
          <a:prstGeom prst="rect">
            <a:avLst/>
          </a:prstGeom>
          <a:noFill/>
          <a:ln/>
        </p:spPr>
        <p:txBody>
          <a:bodyPr wrap="square" rtlCol="0" anchor="ctr"/>
          <a:lstStyle/>
          <a:p>
            <a:pPr marL="0" indent="0" algn="r">
              <a:buNone/>
            </a:pPr>
            <a:r>
              <a:rPr lang="en-US" sz="900" dirty="0">
                <a:solidFill>
                  <a:srgbClr val="5B5B5B"/>
                </a:solidFill>
                <a:latin typeface="Calibri" pitchFamily="34" charset="0"/>
                <a:ea typeface="Calibri" pitchFamily="34" charset="-122"/>
                <a:cs typeface="Calibri" pitchFamily="34" charset="-120"/>
              </a:rPr>
              <a:t>01</a:t>
            </a:r>
            <a:endParaRPr lang="en-US" sz="9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47034" y="538353"/>
            <a:ext cx="5486400" cy="274320"/>
          </a:xfrm>
          <a:prstGeom prst="rect">
            <a:avLst/>
          </a:prstGeom>
          <a:noFill/>
          <a:ln/>
        </p:spPr>
        <p:txBody>
          <a:bodyPr wrap="square" rtlCol="0" anchor="ctr"/>
          <a:lstStyle/>
          <a:p>
            <a:pPr marL="0" indent="0" algn="ctr">
              <a:buNone/>
            </a:pPr>
            <a:r>
              <a:rPr lang="en-US" sz="2800" b="1" kern="0" spc="200" dirty="0">
                <a:solidFill>
                  <a:srgbClr val="1E3A8A"/>
                </a:solidFill>
                <a:latin typeface="Calibri" pitchFamily="34" charset="0"/>
                <a:ea typeface="Calibri" pitchFamily="34" charset="-122"/>
                <a:cs typeface="Calibri" pitchFamily="34" charset="-120"/>
              </a:rPr>
              <a:t>INTRODUCTION</a:t>
            </a:r>
            <a:endParaRPr lang="en-US" sz="2800" dirty="0"/>
          </a:p>
        </p:txBody>
      </p:sp>
      <p:sp>
        <p:nvSpPr>
          <p:cNvPr id="3" name="Text 1"/>
          <p:cNvSpPr/>
          <p:nvPr/>
        </p:nvSpPr>
        <p:spPr>
          <a:xfrm>
            <a:off x="632612" y="1388745"/>
            <a:ext cx="10789920" cy="54864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Why Railway Health Monitoring Matters</a:t>
            </a:r>
            <a:endParaRPr lang="en-US" sz="2800" dirty="0"/>
          </a:p>
        </p:txBody>
      </p:sp>
      <p:sp>
        <p:nvSpPr>
          <p:cNvPr id="4" name="Shape 2"/>
          <p:cNvSpPr/>
          <p:nvPr/>
        </p:nvSpPr>
        <p:spPr>
          <a:xfrm>
            <a:off x="650900" y="2294001"/>
            <a:ext cx="82296" cy="82296"/>
          </a:xfrm>
          <a:prstGeom prst="ellipse">
            <a:avLst/>
          </a:prstGeom>
          <a:solidFill>
            <a:srgbClr val="1E3A8A"/>
          </a:solidFill>
          <a:ln/>
        </p:spPr>
        <p:txBody>
          <a:bodyPr/>
          <a:lstStyle/>
          <a:p>
            <a:endParaRPr lang="en-IN"/>
          </a:p>
        </p:txBody>
      </p:sp>
      <p:sp>
        <p:nvSpPr>
          <p:cNvPr id="5" name="Text 3"/>
          <p:cNvSpPr/>
          <p:nvPr/>
        </p:nvSpPr>
        <p:spPr>
          <a:xfrm>
            <a:off x="888644" y="2156841"/>
            <a:ext cx="5532120" cy="548640"/>
          </a:xfrm>
          <a:prstGeom prst="rect">
            <a:avLst/>
          </a:prstGeom>
          <a:noFill/>
          <a:ln/>
        </p:spPr>
        <p:txBody>
          <a:bodyPr wrap="square" rtlCol="0" anchor="ctr"/>
          <a:lstStyle/>
          <a:p>
            <a:pPr marL="0" indent="0">
              <a:lnSpc>
                <a:spcPct val="115000"/>
              </a:lnSpc>
              <a:buNone/>
            </a:pPr>
            <a:r>
              <a:rPr lang="en-US" sz="1400" dirty="0">
                <a:solidFill>
                  <a:srgbClr val="1A1A1A"/>
                </a:solidFill>
                <a:latin typeface="Calibri" pitchFamily="34" charset="0"/>
                <a:ea typeface="Calibri" pitchFamily="34" charset="-122"/>
                <a:cs typeface="Calibri" pitchFamily="34" charset="-120"/>
              </a:rPr>
              <a:t>Undetected rail cracks and geometry defects are a leading cause of derailments worldwide.</a:t>
            </a:r>
            <a:endParaRPr lang="en-US" sz="1400" dirty="0"/>
          </a:p>
        </p:txBody>
      </p:sp>
      <p:sp>
        <p:nvSpPr>
          <p:cNvPr id="6" name="Shape 4"/>
          <p:cNvSpPr/>
          <p:nvPr/>
        </p:nvSpPr>
        <p:spPr>
          <a:xfrm>
            <a:off x="650900" y="2952369"/>
            <a:ext cx="82296" cy="82296"/>
          </a:xfrm>
          <a:prstGeom prst="ellipse">
            <a:avLst/>
          </a:prstGeom>
          <a:solidFill>
            <a:srgbClr val="1E3A8A"/>
          </a:solidFill>
          <a:ln/>
        </p:spPr>
        <p:txBody>
          <a:bodyPr/>
          <a:lstStyle/>
          <a:p>
            <a:endParaRPr lang="en-IN"/>
          </a:p>
        </p:txBody>
      </p:sp>
      <p:sp>
        <p:nvSpPr>
          <p:cNvPr id="7" name="Text 5"/>
          <p:cNvSpPr/>
          <p:nvPr/>
        </p:nvSpPr>
        <p:spPr>
          <a:xfrm>
            <a:off x="888644" y="2815209"/>
            <a:ext cx="5532120" cy="548640"/>
          </a:xfrm>
          <a:prstGeom prst="rect">
            <a:avLst/>
          </a:prstGeom>
          <a:noFill/>
          <a:ln/>
        </p:spPr>
        <p:txBody>
          <a:bodyPr wrap="square" rtlCol="0" anchor="ctr"/>
          <a:lstStyle/>
          <a:p>
            <a:pPr marL="0" indent="0">
              <a:lnSpc>
                <a:spcPct val="115000"/>
              </a:lnSpc>
              <a:buNone/>
            </a:pPr>
            <a:r>
              <a:rPr lang="en-US" sz="1400" dirty="0">
                <a:solidFill>
                  <a:srgbClr val="1A1A1A"/>
                </a:solidFill>
                <a:latin typeface="Calibri" pitchFamily="34" charset="0"/>
                <a:ea typeface="Calibri" pitchFamily="34" charset="-122"/>
                <a:cs typeface="Calibri" pitchFamily="34" charset="-120"/>
              </a:rPr>
              <a:t>Manual inspection is periodic, labour-intensive, and depends heavily on inspector experience.</a:t>
            </a:r>
            <a:endParaRPr lang="en-US" sz="1400" dirty="0"/>
          </a:p>
        </p:txBody>
      </p:sp>
      <p:sp>
        <p:nvSpPr>
          <p:cNvPr id="8" name="Shape 6"/>
          <p:cNvSpPr/>
          <p:nvPr/>
        </p:nvSpPr>
        <p:spPr>
          <a:xfrm>
            <a:off x="650900" y="3610737"/>
            <a:ext cx="82296" cy="82296"/>
          </a:xfrm>
          <a:prstGeom prst="ellipse">
            <a:avLst/>
          </a:prstGeom>
          <a:solidFill>
            <a:srgbClr val="1E3A8A"/>
          </a:solidFill>
          <a:ln/>
        </p:spPr>
        <p:txBody>
          <a:bodyPr/>
          <a:lstStyle/>
          <a:p>
            <a:endParaRPr lang="en-IN"/>
          </a:p>
        </p:txBody>
      </p:sp>
      <p:sp>
        <p:nvSpPr>
          <p:cNvPr id="9" name="Text 7"/>
          <p:cNvSpPr/>
          <p:nvPr/>
        </p:nvSpPr>
        <p:spPr>
          <a:xfrm>
            <a:off x="888644" y="3473577"/>
            <a:ext cx="5532120" cy="548640"/>
          </a:xfrm>
          <a:prstGeom prst="rect">
            <a:avLst/>
          </a:prstGeom>
          <a:noFill/>
          <a:ln/>
        </p:spPr>
        <p:txBody>
          <a:bodyPr wrap="square" rtlCol="0" anchor="ctr"/>
          <a:lstStyle/>
          <a:p>
            <a:pPr marL="0" indent="0">
              <a:lnSpc>
                <a:spcPct val="115000"/>
              </a:lnSpc>
              <a:buNone/>
            </a:pPr>
            <a:r>
              <a:rPr lang="en-US" sz="1400" dirty="0">
                <a:solidFill>
                  <a:srgbClr val="1A1A1A"/>
                </a:solidFill>
                <a:latin typeface="Calibri" pitchFamily="34" charset="0"/>
                <a:ea typeface="Calibri" pitchFamily="34" charset="-122"/>
                <a:cs typeface="Calibri" pitchFamily="34" charset="-120"/>
              </a:rPr>
              <a:t>Vibration and acoustic signatures change measurably before a defect becomes visually severe.</a:t>
            </a:r>
            <a:endParaRPr lang="en-US" sz="1400" dirty="0"/>
          </a:p>
        </p:txBody>
      </p:sp>
      <p:sp>
        <p:nvSpPr>
          <p:cNvPr id="10" name="Shape 8"/>
          <p:cNvSpPr/>
          <p:nvPr/>
        </p:nvSpPr>
        <p:spPr>
          <a:xfrm>
            <a:off x="650900" y="4269105"/>
            <a:ext cx="82296" cy="82296"/>
          </a:xfrm>
          <a:prstGeom prst="ellipse">
            <a:avLst/>
          </a:prstGeom>
          <a:solidFill>
            <a:srgbClr val="1E3A8A"/>
          </a:solidFill>
          <a:ln/>
        </p:spPr>
        <p:txBody>
          <a:bodyPr/>
          <a:lstStyle/>
          <a:p>
            <a:endParaRPr lang="en-IN"/>
          </a:p>
        </p:txBody>
      </p:sp>
      <p:sp>
        <p:nvSpPr>
          <p:cNvPr id="11" name="Text 9"/>
          <p:cNvSpPr/>
          <p:nvPr/>
        </p:nvSpPr>
        <p:spPr>
          <a:xfrm>
            <a:off x="888644" y="4131945"/>
            <a:ext cx="5532120" cy="548640"/>
          </a:xfrm>
          <a:prstGeom prst="rect">
            <a:avLst/>
          </a:prstGeom>
          <a:noFill/>
          <a:ln/>
        </p:spPr>
        <p:txBody>
          <a:bodyPr wrap="square" rtlCol="0" anchor="ctr"/>
          <a:lstStyle/>
          <a:p>
            <a:pPr marL="0" indent="0">
              <a:lnSpc>
                <a:spcPct val="115000"/>
              </a:lnSpc>
              <a:buNone/>
            </a:pPr>
            <a:r>
              <a:rPr lang="en-US" sz="1400" dirty="0">
                <a:solidFill>
                  <a:srgbClr val="1A1A1A"/>
                </a:solidFill>
                <a:latin typeface="Calibri" pitchFamily="34" charset="0"/>
                <a:ea typeface="Calibri" pitchFamily="34" charset="-122"/>
                <a:cs typeface="Calibri" pitchFamily="34" charset="-120"/>
              </a:rPr>
              <a:t>Continuous onboard sensing enables early, low-cost, and scalable defect detection.</a:t>
            </a:r>
            <a:endParaRPr lang="en-US" sz="1400" dirty="0"/>
          </a:p>
        </p:txBody>
      </p:sp>
      <p:sp>
        <p:nvSpPr>
          <p:cNvPr id="12" name="Shape 10"/>
          <p:cNvSpPr/>
          <p:nvPr/>
        </p:nvSpPr>
        <p:spPr>
          <a:xfrm>
            <a:off x="6938924" y="2211705"/>
            <a:ext cx="4617720" cy="2514600"/>
          </a:xfrm>
          <a:prstGeom prst="roundRect">
            <a:avLst>
              <a:gd name="adj" fmla="val 2909"/>
            </a:avLst>
          </a:prstGeom>
          <a:solidFill>
            <a:srgbClr val="EAF0FB"/>
          </a:solidFill>
          <a:ln w="12700">
            <a:solidFill>
              <a:srgbClr val="DADFE8"/>
            </a:solidFill>
            <a:prstDash val="solid"/>
          </a:ln>
        </p:spPr>
        <p:txBody>
          <a:bodyPr/>
          <a:lstStyle/>
          <a:p>
            <a:endParaRPr lang="en-IN"/>
          </a:p>
        </p:txBody>
      </p:sp>
      <p:sp>
        <p:nvSpPr>
          <p:cNvPr id="13" name="Shape 11"/>
          <p:cNvSpPr/>
          <p:nvPr/>
        </p:nvSpPr>
        <p:spPr>
          <a:xfrm>
            <a:off x="9006840" y="2504313"/>
            <a:ext cx="411480" cy="68580"/>
          </a:xfrm>
          <a:prstGeom prst="rect">
            <a:avLst/>
          </a:prstGeom>
          <a:solidFill>
            <a:srgbClr val="1E3A8A"/>
          </a:solidFill>
          <a:ln/>
        </p:spPr>
        <p:txBody>
          <a:bodyPr/>
          <a:lstStyle/>
          <a:p>
            <a:endParaRPr lang="en-IN"/>
          </a:p>
        </p:txBody>
      </p:sp>
      <p:sp>
        <p:nvSpPr>
          <p:cNvPr id="14" name="Shape 12"/>
          <p:cNvSpPr/>
          <p:nvPr/>
        </p:nvSpPr>
        <p:spPr>
          <a:xfrm>
            <a:off x="8843010" y="2771013"/>
            <a:ext cx="739140" cy="68580"/>
          </a:xfrm>
          <a:prstGeom prst="rect">
            <a:avLst/>
          </a:prstGeom>
          <a:solidFill>
            <a:srgbClr val="1E3A8A"/>
          </a:solidFill>
          <a:ln/>
        </p:spPr>
        <p:txBody>
          <a:bodyPr/>
          <a:lstStyle/>
          <a:p>
            <a:endParaRPr lang="en-IN"/>
          </a:p>
        </p:txBody>
      </p:sp>
      <p:sp>
        <p:nvSpPr>
          <p:cNvPr id="15" name="Shape 13"/>
          <p:cNvSpPr/>
          <p:nvPr/>
        </p:nvSpPr>
        <p:spPr>
          <a:xfrm>
            <a:off x="8679180" y="3037713"/>
            <a:ext cx="1066800" cy="68580"/>
          </a:xfrm>
          <a:prstGeom prst="rect">
            <a:avLst/>
          </a:prstGeom>
          <a:solidFill>
            <a:srgbClr val="1E3A8A"/>
          </a:solidFill>
          <a:ln/>
        </p:spPr>
        <p:txBody>
          <a:bodyPr/>
          <a:lstStyle/>
          <a:p>
            <a:endParaRPr lang="en-IN"/>
          </a:p>
        </p:txBody>
      </p:sp>
      <p:sp>
        <p:nvSpPr>
          <p:cNvPr id="16" name="Shape 14"/>
          <p:cNvSpPr/>
          <p:nvPr/>
        </p:nvSpPr>
        <p:spPr>
          <a:xfrm>
            <a:off x="8515350" y="3304413"/>
            <a:ext cx="1394460" cy="68580"/>
          </a:xfrm>
          <a:prstGeom prst="rect">
            <a:avLst/>
          </a:prstGeom>
          <a:solidFill>
            <a:srgbClr val="1E3A8A"/>
          </a:solidFill>
          <a:ln/>
        </p:spPr>
        <p:txBody>
          <a:bodyPr/>
          <a:lstStyle/>
          <a:p>
            <a:endParaRPr lang="en-IN"/>
          </a:p>
        </p:txBody>
      </p:sp>
      <p:sp>
        <p:nvSpPr>
          <p:cNvPr id="17" name="Shape 15"/>
          <p:cNvSpPr/>
          <p:nvPr/>
        </p:nvSpPr>
        <p:spPr>
          <a:xfrm>
            <a:off x="8351520" y="3571113"/>
            <a:ext cx="1722120" cy="68580"/>
          </a:xfrm>
          <a:prstGeom prst="rect">
            <a:avLst/>
          </a:prstGeom>
          <a:solidFill>
            <a:srgbClr val="1E3A8A"/>
          </a:solidFill>
          <a:ln/>
        </p:spPr>
        <p:txBody>
          <a:bodyPr/>
          <a:lstStyle/>
          <a:p>
            <a:endParaRPr lang="en-IN"/>
          </a:p>
        </p:txBody>
      </p:sp>
      <p:sp>
        <p:nvSpPr>
          <p:cNvPr id="18" name="Shape 16"/>
          <p:cNvSpPr/>
          <p:nvPr/>
        </p:nvSpPr>
        <p:spPr>
          <a:xfrm>
            <a:off x="8187690" y="3837813"/>
            <a:ext cx="2049780" cy="68580"/>
          </a:xfrm>
          <a:prstGeom prst="rect">
            <a:avLst/>
          </a:prstGeom>
          <a:solidFill>
            <a:srgbClr val="1E3A8A"/>
          </a:solidFill>
          <a:ln/>
        </p:spPr>
        <p:txBody>
          <a:bodyPr/>
          <a:lstStyle/>
          <a:p>
            <a:endParaRPr lang="en-IN"/>
          </a:p>
        </p:txBody>
      </p:sp>
      <p:sp>
        <p:nvSpPr>
          <p:cNvPr id="19" name="Shape 17"/>
          <p:cNvSpPr/>
          <p:nvPr/>
        </p:nvSpPr>
        <p:spPr>
          <a:xfrm>
            <a:off x="8023860" y="4104513"/>
            <a:ext cx="2377440" cy="68580"/>
          </a:xfrm>
          <a:prstGeom prst="rect">
            <a:avLst/>
          </a:prstGeom>
          <a:solidFill>
            <a:srgbClr val="1E3A8A"/>
          </a:solidFill>
          <a:ln/>
        </p:spPr>
        <p:txBody>
          <a:bodyPr/>
          <a:lstStyle/>
          <a:p>
            <a:endParaRPr lang="en-IN"/>
          </a:p>
        </p:txBody>
      </p:sp>
      <p:sp>
        <p:nvSpPr>
          <p:cNvPr id="20" name="Shape 18"/>
          <p:cNvSpPr/>
          <p:nvPr/>
        </p:nvSpPr>
        <p:spPr>
          <a:xfrm>
            <a:off x="9157716" y="2504313"/>
            <a:ext cx="0" cy="1600200"/>
          </a:xfrm>
          <a:prstGeom prst="line">
            <a:avLst/>
          </a:prstGeom>
          <a:noFill/>
          <a:ln w="31750">
            <a:solidFill>
              <a:srgbClr val="5B7FBE"/>
            </a:solidFill>
            <a:prstDash val="solid"/>
          </a:ln>
        </p:spPr>
        <p:txBody>
          <a:bodyPr/>
          <a:lstStyle/>
          <a:p>
            <a:endParaRPr lang="en-IN"/>
          </a:p>
        </p:txBody>
      </p:sp>
      <p:sp>
        <p:nvSpPr>
          <p:cNvPr id="21" name="Shape 19"/>
          <p:cNvSpPr/>
          <p:nvPr/>
        </p:nvSpPr>
        <p:spPr>
          <a:xfrm>
            <a:off x="9267444" y="2504313"/>
            <a:ext cx="969264" cy="1600200"/>
          </a:xfrm>
          <a:prstGeom prst="line">
            <a:avLst/>
          </a:prstGeom>
          <a:noFill/>
          <a:ln w="31750">
            <a:solidFill>
              <a:srgbClr val="5B7FBE"/>
            </a:solidFill>
            <a:prstDash val="solid"/>
          </a:ln>
        </p:spPr>
        <p:txBody>
          <a:bodyPr/>
          <a:lstStyle/>
          <a:p>
            <a:endParaRPr lang="en-IN"/>
          </a:p>
        </p:txBody>
      </p:sp>
      <p:sp>
        <p:nvSpPr>
          <p:cNvPr id="22" name="Text 20"/>
          <p:cNvSpPr/>
          <p:nvPr/>
        </p:nvSpPr>
        <p:spPr>
          <a:xfrm>
            <a:off x="7086600" y="4323969"/>
            <a:ext cx="4251960" cy="292608"/>
          </a:xfrm>
          <a:prstGeom prst="rect">
            <a:avLst/>
          </a:prstGeom>
          <a:noFill/>
          <a:ln/>
        </p:spPr>
        <p:txBody>
          <a:bodyPr wrap="square" rtlCol="0" anchor="ctr"/>
          <a:lstStyle/>
          <a:p>
            <a:pPr marL="0" indent="0" algn="ctr">
              <a:buNone/>
            </a:pPr>
            <a:r>
              <a:rPr lang="en-US" sz="1050" i="1" dirty="0">
                <a:solidFill>
                  <a:srgbClr val="5B5B5B"/>
                </a:solidFill>
                <a:latin typeface="Calibri" pitchFamily="34" charset="0"/>
                <a:ea typeface="Calibri" pitchFamily="34" charset="-122"/>
                <a:cs typeface="Calibri" pitchFamily="34" charset="-120"/>
              </a:rPr>
              <a:t>Rail Track — Continuous Monitoring Zone</a:t>
            </a:r>
            <a:endParaRPr lang="en-US" sz="1050" dirty="0"/>
          </a:p>
        </p:txBody>
      </p:sp>
      <p:sp>
        <p:nvSpPr>
          <p:cNvPr id="23" name="Shape 21"/>
          <p:cNvSpPr/>
          <p:nvPr/>
        </p:nvSpPr>
        <p:spPr>
          <a:xfrm>
            <a:off x="905256" y="5137785"/>
            <a:ext cx="1783080" cy="1051560"/>
          </a:xfrm>
          <a:prstGeom prst="roundRect">
            <a:avLst>
              <a:gd name="adj" fmla="val 7826"/>
            </a:avLst>
          </a:prstGeom>
          <a:solidFill>
            <a:srgbClr val="EAF0FB"/>
          </a:solidFill>
          <a:ln w="12700">
            <a:solidFill>
              <a:srgbClr val="DADFE8"/>
            </a:solidFill>
            <a:prstDash val="solid"/>
          </a:ln>
        </p:spPr>
        <p:txBody>
          <a:bodyPr/>
          <a:lstStyle/>
          <a:p>
            <a:endParaRPr lang="en-IN"/>
          </a:p>
        </p:txBody>
      </p:sp>
      <p:sp>
        <p:nvSpPr>
          <p:cNvPr id="24" name="Shape 22"/>
          <p:cNvSpPr/>
          <p:nvPr/>
        </p:nvSpPr>
        <p:spPr>
          <a:xfrm>
            <a:off x="1505560" y="5265801"/>
            <a:ext cx="512064" cy="512064"/>
          </a:xfrm>
          <a:prstGeom prst="ellipse">
            <a:avLst/>
          </a:prstGeom>
          <a:solidFill>
            <a:srgbClr val="1E3A8A"/>
          </a:solidFill>
          <a:ln/>
        </p:spPr>
        <p:txBody>
          <a:bodyPr/>
          <a:lstStyle/>
          <a:p>
            <a:endParaRPr lang="en-IN"/>
          </a:p>
        </p:txBody>
      </p:sp>
      <p:pic>
        <p:nvPicPr>
          <p:cNvPr id="25" name="Image 0" descr="/home/claude/edi_mse/icons/train_w.png"/>
          <p:cNvPicPr>
            <a:picLocks noChangeAspect="1"/>
          </p:cNvPicPr>
          <p:nvPr/>
        </p:nvPicPr>
        <p:blipFill>
          <a:blip r:embed="rId3"/>
          <a:stretch>
            <a:fillRect/>
          </a:stretch>
        </p:blipFill>
        <p:spPr>
          <a:xfrm>
            <a:off x="1620774" y="5381015"/>
            <a:ext cx="281635" cy="281635"/>
          </a:xfrm>
          <a:prstGeom prst="rect">
            <a:avLst/>
          </a:prstGeom>
        </p:spPr>
      </p:pic>
      <p:sp>
        <p:nvSpPr>
          <p:cNvPr id="26" name="Text 23"/>
          <p:cNvSpPr/>
          <p:nvPr/>
        </p:nvSpPr>
        <p:spPr>
          <a:xfrm>
            <a:off x="870052" y="5832729"/>
            <a:ext cx="1783080" cy="292608"/>
          </a:xfrm>
          <a:prstGeom prst="rect">
            <a:avLst/>
          </a:prstGeom>
          <a:noFill/>
          <a:ln/>
        </p:spPr>
        <p:txBody>
          <a:bodyPr wrap="square" rtlCol="0" anchor="ctr"/>
          <a:lstStyle/>
          <a:p>
            <a:pPr marL="0" indent="0" algn="ctr">
              <a:buNone/>
            </a:pPr>
            <a:r>
              <a:rPr lang="en-US" sz="1250" b="1" dirty="0">
                <a:solidFill>
                  <a:srgbClr val="1A1A1A"/>
                </a:solidFill>
                <a:latin typeface="Calibri" pitchFamily="34" charset="0"/>
                <a:ea typeface="Calibri" pitchFamily="34" charset="-122"/>
                <a:cs typeface="Calibri" pitchFamily="34" charset="-120"/>
              </a:rPr>
              <a:t>Train</a:t>
            </a:r>
            <a:endParaRPr lang="en-US" sz="1250" dirty="0"/>
          </a:p>
        </p:txBody>
      </p:sp>
      <p:pic>
        <p:nvPicPr>
          <p:cNvPr id="27" name="Image 1" descr="/home/claude/edi_mse/icons/arrowdown.png"/>
          <p:cNvPicPr>
            <a:picLocks noChangeAspect="1"/>
          </p:cNvPicPr>
          <p:nvPr/>
        </p:nvPicPr>
        <p:blipFill>
          <a:blip r:embed="rId4"/>
          <a:stretch>
            <a:fillRect/>
          </a:stretch>
        </p:blipFill>
        <p:spPr>
          <a:xfrm rot="16200000">
            <a:off x="2744572" y="5562981"/>
            <a:ext cx="201168" cy="201168"/>
          </a:xfrm>
          <a:prstGeom prst="rect">
            <a:avLst/>
          </a:prstGeom>
        </p:spPr>
      </p:pic>
      <p:sp>
        <p:nvSpPr>
          <p:cNvPr id="28" name="Shape 24"/>
          <p:cNvSpPr/>
          <p:nvPr/>
        </p:nvSpPr>
        <p:spPr>
          <a:xfrm>
            <a:off x="3055468" y="5137785"/>
            <a:ext cx="1783080" cy="1051560"/>
          </a:xfrm>
          <a:prstGeom prst="roundRect">
            <a:avLst>
              <a:gd name="adj" fmla="val 7826"/>
            </a:avLst>
          </a:prstGeom>
          <a:solidFill>
            <a:srgbClr val="FFFFFF"/>
          </a:solidFill>
          <a:ln w="12700">
            <a:solidFill>
              <a:srgbClr val="DADFE8"/>
            </a:solidFill>
            <a:prstDash val="solid"/>
          </a:ln>
        </p:spPr>
        <p:txBody>
          <a:bodyPr/>
          <a:lstStyle/>
          <a:p>
            <a:endParaRPr lang="en-IN"/>
          </a:p>
        </p:txBody>
      </p:sp>
      <p:sp>
        <p:nvSpPr>
          <p:cNvPr id="29" name="Shape 25"/>
          <p:cNvSpPr/>
          <p:nvPr/>
        </p:nvSpPr>
        <p:spPr>
          <a:xfrm>
            <a:off x="3672688" y="5265801"/>
            <a:ext cx="512064" cy="512064"/>
          </a:xfrm>
          <a:prstGeom prst="ellipse">
            <a:avLst/>
          </a:prstGeom>
          <a:solidFill>
            <a:srgbClr val="1E3A8A"/>
          </a:solidFill>
          <a:ln/>
        </p:spPr>
        <p:txBody>
          <a:bodyPr/>
          <a:lstStyle/>
          <a:p>
            <a:endParaRPr lang="en-IN"/>
          </a:p>
        </p:txBody>
      </p:sp>
      <p:pic>
        <p:nvPicPr>
          <p:cNvPr id="30" name="Image 2" descr="/home/claude/edi_mse/icons/sensor_w.png"/>
          <p:cNvPicPr>
            <a:picLocks noChangeAspect="1"/>
          </p:cNvPicPr>
          <p:nvPr/>
        </p:nvPicPr>
        <p:blipFill>
          <a:blip r:embed="rId5"/>
          <a:stretch>
            <a:fillRect/>
          </a:stretch>
        </p:blipFill>
        <p:spPr>
          <a:xfrm>
            <a:off x="3823106" y="5381015"/>
            <a:ext cx="281635" cy="281635"/>
          </a:xfrm>
          <a:prstGeom prst="rect">
            <a:avLst/>
          </a:prstGeom>
        </p:spPr>
      </p:pic>
      <p:sp>
        <p:nvSpPr>
          <p:cNvPr id="31" name="Text 26"/>
          <p:cNvSpPr/>
          <p:nvPr/>
        </p:nvSpPr>
        <p:spPr>
          <a:xfrm>
            <a:off x="3055468" y="5832729"/>
            <a:ext cx="1783080" cy="292608"/>
          </a:xfrm>
          <a:prstGeom prst="rect">
            <a:avLst/>
          </a:prstGeom>
          <a:noFill/>
          <a:ln/>
        </p:spPr>
        <p:txBody>
          <a:bodyPr wrap="square" rtlCol="0" anchor="ctr"/>
          <a:lstStyle/>
          <a:p>
            <a:pPr marL="0" indent="0" algn="ctr">
              <a:buNone/>
            </a:pPr>
            <a:r>
              <a:rPr lang="en-US" sz="1250" b="1" dirty="0">
                <a:solidFill>
                  <a:srgbClr val="1A1A1A"/>
                </a:solidFill>
                <a:latin typeface="Calibri" pitchFamily="34" charset="0"/>
                <a:ea typeface="Calibri" pitchFamily="34" charset="-122"/>
                <a:cs typeface="Calibri" pitchFamily="34" charset="-120"/>
              </a:rPr>
              <a:t>Sensor</a:t>
            </a:r>
            <a:endParaRPr lang="en-US" sz="1250" dirty="0"/>
          </a:p>
        </p:txBody>
      </p:sp>
      <p:pic>
        <p:nvPicPr>
          <p:cNvPr id="32" name="Image 3" descr="/home/claude/edi_mse/icons/arrowdown.png"/>
          <p:cNvPicPr>
            <a:picLocks noChangeAspect="1"/>
          </p:cNvPicPr>
          <p:nvPr/>
        </p:nvPicPr>
        <p:blipFill>
          <a:blip r:embed="rId4"/>
          <a:stretch>
            <a:fillRect/>
          </a:stretch>
        </p:blipFill>
        <p:spPr>
          <a:xfrm rot="16200000">
            <a:off x="4911700" y="5562981"/>
            <a:ext cx="201168" cy="201168"/>
          </a:xfrm>
          <a:prstGeom prst="rect">
            <a:avLst/>
          </a:prstGeom>
        </p:spPr>
      </p:pic>
      <p:sp>
        <p:nvSpPr>
          <p:cNvPr id="33" name="Shape 27"/>
          <p:cNvSpPr/>
          <p:nvPr/>
        </p:nvSpPr>
        <p:spPr>
          <a:xfrm>
            <a:off x="5239512" y="5137785"/>
            <a:ext cx="1783080" cy="1051560"/>
          </a:xfrm>
          <a:prstGeom prst="roundRect">
            <a:avLst>
              <a:gd name="adj" fmla="val 7826"/>
            </a:avLst>
          </a:prstGeom>
          <a:solidFill>
            <a:srgbClr val="EAF0FB"/>
          </a:solidFill>
          <a:ln w="12700">
            <a:solidFill>
              <a:srgbClr val="DADFE8"/>
            </a:solidFill>
            <a:prstDash val="solid"/>
          </a:ln>
        </p:spPr>
        <p:txBody>
          <a:bodyPr/>
          <a:lstStyle/>
          <a:p>
            <a:endParaRPr lang="en-IN"/>
          </a:p>
        </p:txBody>
      </p:sp>
      <p:sp>
        <p:nvSpPr>
          <p:cNvPr id="34" name="Shape 28"/>
          <p:cNvSpPr/>
          <p:nvPr/>
        </p:nvSpPr>
        <p:spPr>
          <a:xfrm>
            <a:off x="5839816" y="5265801"/>
            <a:ext cx="512064" cy="512064"/>
          </a:xfrm>
          <a:prstGeom prst="ellipse">
            <a:avLst/>
          </a:prstGeom>
          <a:solidFill>
            <a:srgbClr val="1E3A8A"/>
          </a:solidFill>
          <a:ln/>
        </p:spPr>
        <p:txBody>
          <a:bodyPr/>
          <a:lstStyle/>
          <a:p>
            <a:endParaRPr lang="en-IN"/>
          </a:p>
        </p:txBody>
      </p:sp>
      <p:pic>
        <p:nvPicPr>
          <p:cNvPr id="35" name="Image 4" descr="/home/claude/edi_mse/icons/chip_w.png"/>
          <p:cNvPicPr>
            <a:picLocks noChangeAspect="1"/>
          </p:cNvPicPr>
          <p:nvPr/>
        </p:nvPicPr>
        <p:blipFill>
          <a:blip r:embed="rId6"/>
          <a:stretch>
            <a:fillRect/>
          </a:stretch>
        </p:blipFill>
        <p:spPr>
          <a:xfrm>
            <a:off x="5990234" y="5381015"/>
            <a:ext cx="281635" cy="281635"/>
          </a:xfrm>
          <a:prstGeom prst="rect">
            <a:avLst/>
          </a:prstGeom>
        </p:spPr>
      </p:pic>
      <p:sp>
        <p:nvSpPr>
          <p:cNvPr id="36" name="Text 29"/>
          <p:cNvSpPr/>
          <p:nvPr/>
        </p:nvSpPr>
        <p:spPr>
          <a:xfrm>
            <a:off x="5239512" y="5832729"/>
            <a:ext cx="1783080" cy="292608"/>
          </a:xfrm>
          <a:prstGeom prst="rect">
            <a:avLst/>
          </a:prstGeom>
          <a:noFill/>
          <a:ln/>
        </p:spPr>
        <p:txBody>
          <a:bodyPr wrap="square" rtlCol="0" anchor="ctr"/>
          <a:lstStyle/>
          <a:p>
            <a:pPr marL="0" indent="0" algn="ctr">
              <a:buNone/>
            </a:pPr>
            <a:r>
              <a:rPr lang="en-US" sz="1250" b="1" dirty="0">
                <a:solidFill>
                  <a:srgbClr val="1A1A1A"/>
                </a:solidFill>
                <a:latin typeface="Calibri" pitchFamily="34" charset="0"/>
                <a:ea typeface="Calibri" pitchFamily="34" charset="-122"/>
                <a:cs typeface="Calibri" pitchFamily="34" charset="-120"/>
              </a:rPr>
              <a:t>STM32</a:t>
            </a:r>
            <a:endParaRPr lang="en-US" sz="1250" dirty="0"/>
          </a:p>
        </p:txBody>
      </p:sp>
      <p:pic>
        <p:nvPicPr>
          <p:cNvPr id="37" name="Image 5" descr="/home/claude/edi_mse/icons/arrowdown.png"/>
          <p:cNvPicPr>
            <a:picLocks noChangeAspect="1"/>
          </p:cNvPicPr>
          <p:nvPr/>
        </p:nvPicPr>
        <p:blipFill>
          <a:blip r:embed="rId4"/>
          <a:stretch>
            <a:fillRect/>
          </a:stretch>
        </p:blipFill>
        <p:spPr>
          <a:xfrm rot="16200000">
            <a:off x="7078828" y="5562981"/>
            <a:ext cx="201168" cy="201168"/>
          </a:xfrm>
          <a:prstGeom prst="rect">
            <a:avLst/>
          </a:prstGeom>
        </p:spPr>
      </p:pic>
      <p:sp>
        <p:nvSpPr>
          <p:cNvPr id="38" name="Shape 30"/>
          <p:cNvSpPr/>
          <p:nvPr/>
        </p:nvSpPr>
        <p:spPr>
          <a:xfrm>
            <a:off x="7406640" y="5137785"/>
            <a:ext cx="1783080" cy="1051560"/>
          </a:xfrm>
          <a:prstGeom prst="roundRect">
            <a:avLst>
              <a:gd name="adj" fmla="val 7826"/>
            </a:avLst>
          </a:prstGeom>
          <a:solidFill>
            <a:srgbClr val="FFFFFF"/>
          </a:solidFill>
          <a:ln w="12700">
            <a:solidFill>
              <a:srgbClr val="DADFE8"/>
            </a:solidFill>
            <a:prstDash val="solid"/>
          </a:ln>
        </p:spPr>
        <p:txBody>
          <a:bodyPr/>
          <a:lstStyle/>
          <a:p>
            <a:endParaRPr lang="en-IN"/>
          </a:p>
        </p:txBody>
      </p:sp>
      <p:sp>
        <p:nvSpPr>
          <p:cNvPr id="39" name="Shape 31"/>
          <p:cNvSpPr/>
          <p:nvPr/>
        </p:nvSpPr>
        <p:spPr>
          <a:xfrm>
            <a:off x="8042148" y="5265801"/>
            <a:ext cx="512064" cy="512064"/>
          </a:xfrm>
          <a:prstGeom prst="ellipse">
            <a:avLst/>
          </a:prstGeom>
          <a:solidFill>
            <a:srgbClr val="1E3A8A"/>
          </a:solidFill>
          <a:ln/>
        </p:spPr>
        <p:txBody>
          <a:bodyPr/>
          <a:lstStyle/>
          <a:p>
            <a:endParaRPr lang="en-IN"/>
          </a:p>
        </p:txBody>
      </p:sp>
      <p:pic>
        <p:nvPicPr>
          <p:cNvPr id="40" name="Image 6" descr="/home/claude/edi_mse/icons/brain_w.png"/>
          <p:cNvPicPr>
            <a:picLocks noChangeAspect="1"/>
          </p:cNvPicPr>
          <p:nvPr/>
        </p:nvPicPr>
        <p:blipFill>
          <a:blip r:embed="rId7"/>
          <a:stretch>
            <a:fillRect/>
          </a:stretch>
        </p:blipFill>
        <p:spPr>
          <a:xfrm>
            <a:off x="8122158" y="5381015"/>
            <a:ext cx="281635" cy="281635"/>
          </a:xfrm>
          <a:prstGeom prst="rect">
            <a:avLst/>
          </a:prstGeom>
        </p:spPr>
      </p:pic>
      <p:sp>
        <p:nvSpPr>
          <p:cNvPr id="41" name="Text 32"/>
          <p:cNvSpPr/>
          <p:nvPr/>
        </p:nvSpPr>
        <p:spPr>
          <a:xfrm>
            <a:off x="7406640" y="5832729"/>
            <a:ext cx="1783080" cy="292608"/>
          </a:xfrm>
          <a:prstGeom prst="rect">
            <a:avLst/>
          </a:prstGeom>
          <a:noFill/>
          <a:ln/>
        </p:spPr>
        <p:txBody>
          <a:bodyPr wrap="square" rtlCol="0" anchor="ctr"/>
          <a:lstStyle/>
          <a:p>
            <a:pPr marL="0" indent="0" algn="ctr">
              <a:buNone/>
            </a:pPr>
            <a:r>
              <a:rPr lang="en-US" sz="1250" b="1" dirty="0">
                <a:solidFill>
                  <a:srgbClr val="1A1A1A"/>
                </a:solidFill>
                <a:latin typeface="Calibri" pitchFamily="34" charset="0"/>
                <a:ea typeface="Calibri" pitchFamily="34" charset="-122"/>
                <a:cs typeface="Calibri" pitchFamily="34" charset="-120"/>
              </a:rPr>
              <a:t>AI</a:t>
            </a:r>
            <a:endParaRPr lang="en-US" sz="1250" dirty="0"/>
          </a:p>
        </p:txBody>
      </p:sp>
      <p:pic>
        <p:nvPicPr>
          <p:cNvPr id="42" name="Image 7" descr="/home/claude/edi_mse/icons/arrowdown.png"/>
          <p:cNvPicPr>
            <a:picLocks noChangeAspect="1"/>
          </p:cNvPicPr>
          <p:nvPr/>
        </p:nvPicPr>
        <p:blipFill>
          <a:blip r:embed="rId4"/>
          <a:stretch>
            <a:fillRect/>
          </a:stretch>
        </p:blipFill>
        <p:spPr>
          <a:xfrm rot="16200000">
            <a:off x="9281160" y="5562981"/>
            <a:ext cx="201168" cy="201168"/>
          </a:xfrm>
          <a:prstGeom prst="rect">
            <a:avLst/>
          </a:prstGeom>
        </p:spPr>
      </p:pic>
      <p:sp>
        <p:nvSpPr>
          <p:cNvPr id="43" name="Shape 33"/>
          <p:cNvSpPr/>
          <p:nvPr/>
        </p:nvSpPr>
        <p:spPr>
          <a:xfrm>
            <a:off x="9573768" y="5137785"/>
            <a:ext cx="1783080" cy="1051560"/>
          </a:xfrm>
          <a:prstGeom prst="roundRect">
            <a:avLst>
              <a:gd name="adj" fmla="val 7826"/>
            </a:avLst>
          </a:prstGeom>
          <a:solidFill>
            <a:srgbClr val="EAF0FB"/>
          </a:solidFill>
          <a:ln w="12700">
            <a:solidFill>
              <a:srgbClr val="DADFE8"/>
            </a:solidFill>
            <a:prstDash val="solid"/>
          </a:ln>
        </p:spPr>
        <p:txBody>
          <a:bodyPr/>
          <a:lstStyle/>
          <a:p>
            <a:endParaRPr lang="en-IN"/>
          </a:p>
        </p:txBody>
      </p:sp>
      <p:sp>
        <p:nvSpPr>
          <p:cNvPr id="44" name="Shape 34"/>
          <p:cNvSpPr/>
          <p:nvPr/>
        </p:nvSpPr>
        <p:spPr>
          <a:xfrm>
            <a:off x="10174072" y="5265801"/>
            <a:ext cx="512064" cy="512064"/>
          </a:xfrm>
          <a:prstGeom prst="ellipse">
            <a:avLst/>
          </a:prstGeom>
          <a:solidFill>
            <a:srgbClr val="1E3A8A"/>
          </a:solidFill>
          <a:ln/>
        </p:spPr>
        <p:txBody>
          <a:bodyPr/>
          <a:lstStyle/>
          <a:p>
            <a:endParaRPr lang="en-IN"/>
          </a:p>
        </p:txBody>
      </p:sp>
      <p:pic>
        <p:nvPicPr>
          <p:cNvPr id="45" name="Image 8" descr="/home/claude/edi_mse/icons/bell_w.png"/>
          <p:cNvPicPr>
            <a:picLocks noChangeAspect="1"/>
          </p:cNvPicPr>
          <p:nvPr/>
        </p:nvPicPr>
        <p:blipFill>
          <a:blip r:embed="rId8"/>
          <a:stretch>
            <a:fillRect/>
          </a:stretch>
        </p:blipFill>
        <p:spPr>
          <a:xfrm>
            <a:off x="10324490" y="5381015"/>
            <a:ext cx="281635" cy="281635"/>
          </a:xfrm>
          <a:prstGeom prst="rect">
            <a:avLst/>
          </a:prstGeom>
        </p:spPr>
      </p:pic>
      <p:sp>
        <p:nvSpPr>
          <p:cNvPr id="46" name="Text 35"/>
          <p:cNvSpPr/>
          <p:nvPr/>
        </p:nvSpPr>
        <p:spPr>
          <a:xfrm>
            <a:off x="9573768" y="5832729"/>
            <a:ext cx="1783080" cy="292608"/>
          </a:xfrm>
          <a:prstGeom prst="rect">
            <a:avLst/>
          </a:prstGeom>
          <a:noFill/>
          <a:ln/>
        </p:spPr>
        <p:txBody>
          <a:bodyPr wrap="square" rtlCol="0" anchor="ctr"/>
          <a:lstStyle/>
          <a:p>
            <a:pPr marL="0" indent="0" algn="ctr">
              <a:buNone/>
            </a:pPr>
            <a:r>
              <a:rPr lang="en-US" sz="1250" b="1" dirty="0">
                <a:solidFill>
                  <a:srgbClr val="1A1A1A"/>
                </a:solidFill>
                <a:latin typeface="Calibri" pitchFamily="34" charset="0"/>
                <a:ea typeface="Calibri" pitchFamily="34" charset="-122"/>
                <a:cs typeface="Calibri" pitchFamily="34" charset="-120"/>
              </a:rPr>
              <a:t>Alert</a:t>
            </a:r>
            <a:endParaRPr lang="en-US" sz="1250" dirty="0"/>
          </a:p>
        </p:txBody>
      </p:sp>
      <p:sp>
        <p:nvSpPr>
          <p:cNvPr id="47" name="Text 36"/>
          <p:cNvSpPr/>
          <p:nvPr/>
        </p:nvSpPr>
        <p:spPr>
          <a:xfrm>
            <a:off x="870052" y="6317361"/>
            <a:ext cx="10451592" cy="274320"/>
          </a:xfrm>
          <a:prstGeom prst="rect">
            <a:avLst/>
          </a:prstGeom>
          <a:noFill/>
          <a:ln/>
        </p:spPr>
        <p:txBody>
          <a:bodyPr wrap="square" rtlCol="0" anchor="ctr"/>
          <a:lstStyle/>
          <a:p>
            <a:pPr marL="0" indent="0" algn="ctr">
              <a:buNone/>
            </a:pPr>
            <a:r>
              <a:rPr lang="en-US" sz="1050" i="1" dirty="0">
                <a:solidFill>
                  <a:srgbClr val="5B5B5B"/>
                </a:solidFill>
                <a:latin typeface="Calibri" pitchFamily="34" charset="0"/>
                <a:ea typeface="Calibri" pitchFamily="34" charset="-122"/>
                <a:cs typeface="Calibri" pitchFamily="34" charset="-120"/>
              </a:rPr>
              <a:t>System data flow: signal is captured, digitised, analysed and escalated automatically.</a:t>
            </a:r>
            <a:endParaRPr lang="en-US" sz="1050" dirty="0"/>
          </a:p>
        </p:txBody>
      </p:sp>
      <p:sp>
        <p:nvSpPr>
          <p:cNvPr id="49" name="Text 37"/>
          <p:cNvSpPr/>
          <p:nvPr/>
        </p:nvSpPr>
        <p:spPr>
          <a:xfrm>
            <a:off x="11551615" y="7359777"/>
            <a:ext cx="457200" cy="274320"/>
          </a:xfrm>
          <a:prstGeom prst="rect">
            <a:avLst/>
          </a:prstGeom>
          <a:noFill/>
          <a:ln/>
        </p:spPr>
        <p:txBody>
          <a:bodyPr wrap="square" rtlCol="0" anchor="ctr"/>
          <a:lstStyle/>
          <a:p>
            <a:pPr marL="0" indent="0" algn="r">
              <a:buNone/>
            </a:pPr>
            <a:r>
              <a:rPr lang="en-US" sz="900" dirty="0">
                <a:solidFill>
                  <a:srgbClr val="5B5B5B"/>
                </a:solidFill>
                <a:latin typeface="Calibri" pitchFamily="34" charset="0"/>
                <a:ea typeface="Calibri" pitchFamily="34" charset="-122"/>
                <a:cs typeface="Calibri" pitchFamily="34" charset="-120"/>
              </a:rPr>
              <a:t>02</a:t>
            </a:r>
            <a:endParaRPr lang="en-US" sz="900" dirty="0"/>
          </a:p>
        </p:txBody>
      </p:sp>
      <p:pic>
        <p:nvPicPr>
          <p:cNvPr id="48" name="Picture 47">
            <a:extLst>
              <a:ext uri="{FF2B5EF4-FFF2-40B4-BE49-F238E27FC236}">
                <a16:creationId xmlns:a16="http://schemas.microsoft.com/office/drawing/2014/main" id="{88D8C5CA-2B8D-EE48-054D-3B1253F972F1}"/>
              </a:ext>
            </a:extLst>
          </p:cNvPr>
          <p:cNvPicPr>
            <a:picLocks noChangeAspect="1"/>
          </p:cNvPicPr>
          <p:nvPr/>
        </p:nvPicPr>
        <p:blipFill>
          <a:blip r:embed="rId9"/>
          <a:stretch>
            <a:fillRect/>
          </a:stretch>
        </p:blipFill>
        <p:spPr>
          <a:xfrm>
            <a:off x="7000796" y="2259330"/>
            <a:ext cx="4501594" cy="2421255"/>
          </a:xfrm>
          <a:prstGeom prst="rect">
            <a:avLst/>
          </a:prstGeom>
          <a:ln>
            <a:noFill/>
          </a:ln>
          <a:effectLst>
            <a:softEdge rad="112500"/>
          </a:effectLst>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52800" y="492633"/>
            <a:ext cx="5486400" cy="274320"/>
          </a:xfrm>
          <a:prstGeom prst="rect">
            <a:avLst/>
          </a:prstGeom>
          <a:noFill/>
          <a:ln/>
        </p:spPr>
        <p:txBody>
          <a:bodyPr wrap="square" rtlCol="0" anchor="ctr"/>
          <a:lstStyle/>
          <a:p>
            <a:pPr marL="0" indent="0" algn="ctr">
              <a:buNone/>
            </a:pPr>
            <a:r>
              <a:rPr lang="en-US" sz="2800" b="1" kern="0" spc="200" dirty="0">
                <a:solidFill>
                  <a:srgbClr val="1E3A8A"/>
                </a:solidFill>
                <a:latin typeface="Calibri" pitchFamily="34" charset="0"/>
                <a:ea typeface="Calibri" pitchFamily="34" charset="-122"/>
                <a:cs typeface="Calibri" pitchFamily="34" charset="-120"/>
              </a:rPr>
              <a:t>LITERATURE REVIEW · PART 1</a:t>
            </a:r>
            <a:endParaRPr lang="en-US" sz="2800" dirty="0"/>
          </a:p>
        </p:txBody>
      </p:sp>
      <p:sp>
        <p:nvSpPr>
          <p:cNvPr id="3" name="Text 1"/>
          <p:cNvSpPr/>
          <p:nvPr/>
        </p:nvSpPr>
        <p:spPr>
          <a:xfrm>
            <a:off x="640080" y="2044065"/>
            <a:ext cx="7772400" cy="54864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Comparative Study of Prior Work</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393232747"/>
              </p:ext>
            </p:extLst>
          </p:nvPr>
        </p:nvGraphicFramePr>
        <p:xfrm>
          <a:off x="640080" y="2857500"/>
          <a:ext cx="7040880" cy="2926080"/>
        </p:xfrm>
        <a:graphic>
          <a:graphicData uri="http://schemas.openxmlformats.org/drawingml/2006/table">
            <a:tbl>
              <a:tblPr/>
              <a:tblGrid>
                <a:gridCol w="21031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7315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solidFill>
                      <a:srgbClr val="1E3A8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solidFill>
                      <a:srgbClr val="1E3A8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solidFill>
                      <a:srgbClr val="1E3A8A"/>
                    </a:solidFill>
                  </a:tcPr>
                </a:tc>
                <a:extLst>
                  <a:ext uri="{0D108BD9-81ED-4DB2-BD59-A6C34878D82A}">
                    <a16:rowId xmlns:a16="http://schemas.microsoft.com/office/drawing/2014/main" val="10000"/>
                  </a:ext>
                </a:extLst>
              </a:tr>
              <a:tr h="731520">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Suwansin &amp; Phasukkit (2021)</a:t>
                      </a:r>
                      <a:endParaRPr lang="en-US" sz="11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Single-sensor acoustic emission + deep learning classifier</a:t>
                      </a:r>
                      <a:endParaRPr lang="en-US" sz="11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Trained on lab-induced (pencil-lead break) AE; limited field noise variability</a:t>
                      </a:r>
                      <a:endParaRPr lang="en-US" sz="11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Li et al. (2021)</a:t>
                      </a:r>
                      <a:endParaRPr lang="en-US" sz="11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Synchrosqueezed wavelet transform + multi-branch CNN for AE wave classification</a:t>
                      </a:r>
                      <a:endParaRPr lang="en-US" sz="11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High computation cost; needs large labelled AE-hit datasets</a:t>
                      </a:r>
                      <a:endParaRPr lang="en-US" sz="11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Liu et al. / DR-Train (2019)</a:t>
                      </a:r>
                      <a:endParaRPr lang="en-US" sz="11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Onboard accelerometer + GPS for track-geometry change detection</a:t>
                      </a:r>
                      <a:endParaRPr lang="en-US" sz="11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Detects geometry drift, not localized crack-level defects</a:t>
                      </a:r>
                      <a:endParaRPr lang="en-US" sz="1100" dirty="0">
                        <a:latin typeface="Calibri" charset="0"/>
                        <a:ea typeface="Calibri" charset="0"/>
                        <a:cs typeface="Calibri" charset="0"/>
                      </a:endParaRPr>
                    </a:p>
                  </a:txBody>
                  <a:tcPr marL="101600" marR="101600" marT="76200" marB="76200" anchor="ctr">
                    <a:lnL w="9525" cap="flat" cmpd="sng" algn="ctr">
                      <a:solidFill>
                        <a:srgbClr val="DADFE8"/>
                      </a:solidFill>
                      <a:prstDash val="solid"/>
                      <a:round/>
                      <a:headEnd type="none" w="med" len="med"/>
                      <a:tailEnd type="none" w="med" len="med"/>
                    </a:lnL>
                    <a:lnR w="9525" cap="flat" cmpd="sng" algn="ctr">
                      <a:solidFill>
                        <a:srgbClr val="DADFE8"/>
                      </a:solidFill>
                      <a:prstDash val="solid"/>
                      <a:round/>
                      <a:headEnd type="none" w="med" len="med"/>
                      <a:tailEnd type="none" w="med" len="med"/>
                    </a:lnR>
                    <a:lnT w="9525" cap="flat" cmpd="sng" algn="ctr">
                      <a:solidFill>
                        <a:srgbClr val="DADFE8"/>
                      </a:solidFill>
                      <a:prstDash val="solid"/>
                      <a:round/>
                      <a:headEnd type="none" w="med" len="med"/>
                      <a:tailEnd type="none" w="med" len="med"/>
                    </a:lnT>
                    <a:lnB w="9525" cap="flat" cmpd="sng" algn="ctr">
                      <a:solidFill>
                        <a:srgbClr val="DADF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7955280" y="2857500"/>
            <a:ext cx="3611880" cy="2926080"/>
          </a:xfrm>
          <a:prstGeom prst="roundRect">
            <a:avLst>
              <a:gd name="adj" fmla="val 2813"/>
            </a:avLst>
          </a:prstGeom>
          <a:solidFill>
            <a:srgbClr val="15295E"/>
          </a:solidFill>
          <a:ln/>
        </p:spPr>
        <p:txBody>
          <a:bodyPr/>
          <a:lstStyle/>
          <a:p>
            <a:endParaRPr lang="en-IN"/>
          </a:p>
        </p:txBody>
      </p:sp>
      <p:sp>
        <p:nvSpPr>
          <p:cNvPr id="6" name="Shape 3"/>
          <p:cNvSpPr/>
          <p:nvPr/>
        </p:nvSpPr>
        <p:spPr>
          <a:xfrm>
            <a:off x="9349740" y="3177540"/>
            <a:ext cx="822960" cy="822960"/>
          </a:xfrm>
          <a:prstGeom prst="ellipse">
            <a:avLst/>
          </a:prstGeom>
          <a:solidFill>
            <a:srgbClr val="5B7FBE"/>
          </a:solidFill>
          <a:ln/>
        </p:spPr>
        <p:txBody>
          <a:bodyPr/>
          <a:lstStyle/>
          <a:p>
            <a:endParaRPr lang="en-IN"/>
          </a:p>
        </p:txBody>
      </p:sp>
      <p:pic>
        <p:nvPicPr>
          <p:cNvPr id="7" name="Image 0" descr="/home/claude/edi_mse/icons/search_w.png"/>
          <p:cNvPicPr>
            <a:picLocks noChangeAspect="1"/>
          </p:cNvPicPr>
          <p:nvPr/>
        </p:nvPicPr>
        <p:blipFill>
          <a:blip r:embed="rId3"/>
          <a:stretch>
            <a:fillRect/>
          </a:stretch>
        </p:blipFill>
        <p:spPr>
          <a:xfrm>
            <a:off x="9534906" y="3362706"/>
            <a:ext cx="452628" cy="452628"/>
          </a:xfrm>
          <a:prstGeom prst="rect">
            <a:avLst/>
          </a:prstGeom>
        </p:spPr>
      </p:pic>
      <p:sp>
        <p:nvSpPr>
          <p:cNvPr id="8" name="Text 4"/>
          <p:cNvSpPr/>
          <p:nvPr/>
        </p:nvSpPr>
        <p:spPr>
          <a:xfrm>
            <a:off x="8138160" y="4229100"/>
            <a:ext cx="3246120" cy="640080"/>
          </a:xfrm>
          <a:prstGeom prst="rect">
            <a:avLst/>
          </a:prstGeom>
          <a:noFill/>
          <a:ln/>
        </p:spPr>
        <p:txBody>
          <a:bodyPr wrap="square" rtlCol="0" anchor="ctr"/>
          <a:lstStyle/>
          <a:p>
            <a:pPr marL="0" indent="0" algn="ctr">
              <a:lnSpc>
                <a:spcPct val="105000"/>
              </a:lnSpc>
              <a:buNone/>
            </a:pPr>
            <a:r>
              <a:rPr lang="en-US" sz="1500" b="1" dirty="0">
                <a:solidFill>
                  <a:srgbClr val="FFFFFF"/>
                </a:solidFill>
                <a:latin typeface="Calibri" pitchFamily="34" charset="0"/>
                <a:ea typeface="Calibri" pitchFamily="34" charset="-122"/>
                <a:cs typeface="Calibri" pitchFamily="34" charset="-120"/>
              </a:rPr>
              <a:t>Manual Track</a:t>
            </a:r>
            <a:endParaRPr lang="en-US" sz="1500" dirty="0"/>
          </a:p>
          <a:p>
            <a:pPr marL="0" indent="0" algn="ctr">
              <a:lnSpc>
                <a:spcPct val="105000"/>
              </a:lnSpc>
              <a:buNone/>
            </a:pPr>
            <a:r>
              <a:rPr lang="en-US" sz="1500" b="1" dirty="0">
                <a:solidFill>
                  <a:srgbClr val="FFFFFF"/>
                </a:solidFill>
                <a:latin typeface="Calibri" pitchFamily="34" charset="0"/>
                <a:ea typeface="Calibri" pitchFamily="34" charset="-122"/>
                <a:cs typeface="Calibri" pitchFamily="34" charset="-120"/>
              </a:rPr>
              <a:t>Inspection</a:t>
            </a:r>
            <a:endParaRPr lang="en-US" sz="1500" dirty="0"/>
          </a:p>
        </p:txBody>
      </p:sp>
      <p:sp>
        <p:nvSpPr>
          <p:cNvPr id="9" name="Text 5"/>
          <p:cNvSpPr/>
          <p:nvPr/>
        </p:nvSpPr>
        <p:spPr>
          <a:xfrm>
            <a:off x="8229600" y="4914900"/>
            <a:ext cx="3063240" cy="777240"/>
          </a:xfrm>
          <a:prstGeom prst="rect">
            <a:avLst/>
          </a:prstGeom>
          <a:noFill/>
          <a:ln/>
        </p:spPr>
        <p:txBody>
          <a:bodyPr wrap="square" rtlCol="0" anchor="ctr"/>
          <a:lstStyle/>
          <a:p>
            <a:pPr marL="0" indent="0" algn="ctr">
              <a:lnSpc>
                <a:spcPct val="115000"/>
              </a:lnSpc>
              <a:buNone/>
            </a:pPr>
            <a:r>
              <a:rPr lang="en-US" sz="1050" dirty="0">
                <a:solidFill>
                  <a:srgbClr val="D7E0F5"/>
                </a:solidFill>
                <a:latin typeface="Calibri" pitchFamily="34" charset="0"/>
                <a:ea typeface="Calibri" pitchFamily="34" charset="-122"/>
                <a:cs typeface="Calibri" pitchFamily="34" charset="-120"/>
              </a:rPr>
              <a:t>Periodic walk-through checks remain the industry baseline — accurate, but slow, costly, and dependent on inspector fatigue.</a:t>
            </a:r>
            <a:endParaRPr lang="en-US" sz="1050" dirty="0"/>
          </a:p>
        </p:txBody>
      </p:sp>
      <p:sp>
        <p:nvSpPr>
          <p:cNvPr id="10" name="Text 6"/>
          <p:cNvSpPr/>
          <p:nvPr/>
        </p:nvSpPr>
        <p:spPr>
          <a:xfrm>
            <a:off x="640080" y="6012180"/>
            <a:ext cx="10972800" cy="365760"/>
          </a:xfrm>
          <a:prstGeom prst="rect">
            <a:avLst/>
          </a:prstGeom>
          <a:noFill/>
          <a:ln/>
        </p:spPr>
        <p:txBody>
          <a:bodyPr wrap="square" rtlCol="0" anchor="ctr"/>
          <a:lstStyle/>
          <a:p>
            <a:pPr marL="0" indent="0">
              <a:buNone/>
            </a:pPr>
            <a:r>
              <a:rPr lang="en-US" sz="1200" i="1" dirty="0">
                <a:solidFill>
                  <a:srgbClr val="5B5B5B"/>
                </a:solidFill>
                <a:latin typeface="Calibri" pitchFamily="34" charset="0"/>
                <a:ea typeface="Calibri" pitchFamily="34" charset="-122"/>
                <a:cs typeface="Calibri" pitchFamily="34" charset="-120"/>
              </a:rPr>
              <a:t>Across prior work, most methods trade off accuracy against real-world scalability.</a:t>
            </a:r>
            <a:endParaRPr lang="en-US" sz="1200" dirty="0"/>
          </a:p>
        </p:txBody>
      </p:sp>
      <p:sp>
        <p:nvSpPr>
          <p:cNvPr id="12" name="Text 7"/>
          <p:cNvSpPr/>
          <p:nvPr/>
        </p:nvSpPr>
        <p:spPr>
          <a:xfrm>
            <a:off x="11551615" y="7959852"/>
            <a:ext cx="457200" cy="274320"/>
          </a:xfrm>
          <a:prstGeom prst="rect">
            <a:avLst/>
          </a:prstGeom>
          <a:noFill/>
          <a:ln/>
        </p:spPr>
        <p:txBody>
          <a:bodyPr wrap="square" rtlCol="0" anchor="ctr"/>
          <a:lstStyle/>
          <a:p>
            <a:pPr marL="0" indent="0" algn="r">
              <a:buNone/>
            </a:pPr>
            <a:r>
              <a:rPr lang="en-US" sz="900" dirty="0">
                <a:solidFill>
                  <a:srgbClr val="5B5B5B"/>
                </a:solidFill>
                <a:latin typeface="Calibri" pitchFamily="34" charset="0"/>
                <a:ea typeface="Calibri" pitchFamily="34" charset="-122"/>
                <a:cs typeface="Calibri" pitchFamily="34" charset="-120"/>
              </a:rPr>
              <a:t>03</a:t>
            </a:r>
            <a:endParaRPr lang="en-US" sz="900" dirty="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52800" y="538353"/>
            <a:ext cx="5486400" cy="274320"/>
          </a:xfrm>
          <a:prstGeom prst="rect">
            <a:avLst/>
          </a:prstGeom>
          <a:noFill/>
          <a:ln/>
        </p:spPr>
        <p:txBody>
          <a:bodyPr wrap="square" rtlCol="0" anchor="ctr"/>
          <a:lstStyle/>
          <a:p>
            <a:pPr marL="0" indent="0" algn="ctr">
              <a:buNone/>
            </a:pPr>
            <a:r>
              <a:rPr lang="en-US" sz="2800" b="1" kern="0" spc="200" dirty="0">
                <a:solidFill>
                  <a:srgbClr val="1E3A8A"/>
                </a:solidFill>
                <a:latin typeface="Calibri" pitchFamily="34" charset="0"/>
                <a:ea typeface="Calibri" pitchFamily="34" charset="-122"/>
                <a:cs typeface="Calibri" pitchFamily="34" charset="-120"/>
              </a:rPr>
              <a:t>LITERATURE REVIEW · PART 2</a:t>
            </a:r>
            <a:endParaRPr lang="en-US" sz="2800" dirty="0"/>
          </a:p>
        </p:txBody>
      </p:sp>
      <p:sp>
        <p:nvSpPr>
          <p:cNvPr id="3" name="Text 1"/>
          <p:cNvSpPr/>
          <p:nvPr/>
        </p:nvSpPr>
        <p:spPr>
          <a:xfrm>
            <a:off x="640080" y="1398270"/>
            <a:ext cx="9601200" cy="54864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Recent Developments in Rail Monitoring</a:t>
            </a:r>
            <a:endParaRPr lang="en-US" sz="2800" dirty="0"/>
          </a:p>
        </p:txBody>
      </p:sp>
      <p:sp>
        <p:nvSpPr>
          <p:cNvPr id="4" name="Shape 2"/>
          <p:cNvSpPr/>
          <p:nvPr/>
        </p:nvSpPr>
        <p:spPr>
          <a:xfrm>
            <a:off x="640080" y="2312670"/>
            <a:ext cx="566928" cy="566928"/>
          </a:xfrm>
          <a:prstGeom prst="ellipse">
            <a:avLst/>
          </a:prstGeom>
          <a:solidFill>
            <a:srgbClr val="1E3A8A"/>
          </a:solidFill>
          <a:ln/>
        </p:spPr>
        <p:txBody>
          <a:bodyPr/>
          <a:lstStyle/>
          <a:p>
            <a:endParaRPr lang="en-IN"/>
          </a:p>
        </p:txBody>
      </p:sp>
      <p:pic>
        <p:nvPicPr>
          <p:cNvPr id="5" name="Image 0" descr="/home/claude/edi_mse/icons/database_w.png"/>
          <p:cNvPicPr>
            <a:picLocks noChangeAspect="1"/>
          </p:cNvPicPr>
          <p:nvPr/>
        </p:nvPicPr>
        <p:blipFill>
          <a:blip r:embed="rId3"/>
          <a:stretch>
            <a:fillRect/>
          </a:stretch>
        </p:blipFill>
        <p:spPr>
          <a:xfrm>
            <a:off x="764804" y="2437394"/>
            <a:ext cx="317480" cy="317480"/>
          </a:xfrm>
          <a:prstGeom prst="rect">
            <a:avLst/>
          </a:prstGeom>
        </p:spPr>
      </p:pic>
      <p:sp>
        <p:nvSpPr>
          <p:cNvPr id="6" name="Text 3"/>
          <p:cNvSpPr/>
          <p:nvPr/>
        </p:nvSpPr>
        <p:spPr>
          <a:xfrm>
            <a:off x="1371600" y="2294382"/>
            <a:ext cx="4206240" cy="292608"/>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Rail-VIVID Dataset</a:t>
            </a:r>
            <a:endParaRPr lang="en-US" sz="1400" dirty="0"/>
          </a:p>
        </p:txBody>
      </p:sp>
      <p:sp>
        <p:nvSpPr>
          <p:cNvPr id="7" name="Text 4"/>
          <p:cNvSpPr/>
          <p:nvPr/>
        </p:nvSpPr>
        <p:spPr>
          <a:xfrm>
            <a:off x="1371600" y="2605278"/>
            <a:ext cx="4297680" cy="566928"/>
          </a:xfrm>
          <a:prstGeom prst="rect">
            <a:avLst/>
          </a:prstGeom>
          <a:noFill/>
          <a:ln/>
        </p:spPr>
        <p:txBody>
          <a:bodyPr wrap="square" rtlCol="0" anchor="ctr"/>
          <a:lstStyle/>
          <a:p>
            <a:pPr marL="0" indent="0">
              <a:lnSpc>
                <a:spcPct val="112000"/>
              </a:lnSpc>
              <a:buNone/>
            </a:pPr>
            <a:r>
              <a:rPr lang="en-US" sz="1100" dirty="0">
                <a:solidFill>
                  <a:srgbClr val="5B5B5B"/>
                </a:solidFill>
                <a:latin typeface="Calibri" pitchFamily="34" charset="0"/>
                <a:ea typeface="Calibri" pitchFamily="34" charset="-122"/>
                <a:cs typeface="Calibri" pitchFamily="34" charset="-120"/>
              </a:rPr>
              <a:t>A 2026 synchronized vibration + vision benchmark dataset enabling multimodal rail-defect research (Ma et al.).</a:t>
            </a:r>
            <a:endParaRPr lang="en-US" sz="1100" dirty="0"/>
          </a:p>
        </p:txBody>
      </p:sp>
      <p:sp>
        <p:nvSpPr>
          <p:cNvPr id="8" name="Shape 5"/>
          <p:cNvSpPr/>
          <p:nvPr/>
        </p:nvSpPr>
        <p:spPr>
          <a:xfrm>
            <a:off x="640080" y="3245358"/>
            <a:ext cx="566928" cy="566928"/>
          </a:xfrm>
          <a:prstGeom prst="ellipse">
            <a:avLst/>
          </a:prstGeom>
          <a:solidFill>
            <a:srgbClr val="1E3A8A"/>
          </a:solidFill>
          <a:ln/>
        </p:spPr>
        <p:txBody>
          <a:bodyPr/>
          <a:lstStyle/>
          <a:p>
            <a:endParaRPr lang="en-IN"/>
          </a:p>
        </p:txBody>
      </p:sp>
      <p:pic>
        <p:nvPicPr>
          <p:cNvPr id="9" name="Image 1" descr="/home/claude/edi_mse/icons/chartline_w.png"/>
          <p:cNvPicPr>
            <a:picLocks noChangeAspect="1"/>
          </p:cNvPicPr>
          <p:nvPr/>
        </p:nvPicPr>
        <p:blipFill>
          <a:blip r:embed="rId4"/>
          <a:stretch>
            <a:fillRect/>
          </a:stretch>
        </p:blipFill>
        <p:spPr>
          <a:xfrm>
            <a:off x="764804" y="3370082"/>
            <a:ext cx="317480" cy="317480"/>
          </a:xfrm>
          <a:prstGeom prst="rect">
            <a:avLst/>
          </a:prstGeom>
        </p:spPr>
      </p:pic>
      <p:sp>
        <p:nvSpPr>
          <p:cNvPr id="10" name="Text 6"/>
          <p:cNvSpPr/>
          <p:nvPr/>
        </p:nvSpPr>
        <p:spPr>
          <a:xfrm>
            <a:off x="1371600" y="3227070"/>
            <a:ext cx="4206240" cy="292608"/>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Public Vibration Datasets</a:t>
            </a:r>
            <a:endParaRPr lang="en-US" sz="1400" dirty="0"/>
          </a:p>
        </p:txBody>
      </p:sp>
      <p:sp>
        <p:nvSpPr>
          <p:cNvPr id="11" name="Text 7"/>
          <p:cNvSpPr/>
          <p:nvPr/>
        </p:nvSpPr>
        <p:spPr>
          <a:xfrm>
            <a:off x="1371600" y="3537966"/>
            <a:ext cx="4297680" cy="566928"/>
          </a:xfrm>
          <a:prstGeom prst="rect">
            <a:avLst/>
          </a:prstGeom>
          <a:noFill/>
          <a:ln/>
        </p:spPr>
        <p:txBody>
          <a:bodyPr wrap="square" rtlCol="0" anchor="ctr"/>
          <a:lstStyle/>
          <a:p>
            <a:pPr marL="0" indent="0">
              <a:lnSpc>
                <a:spcPct val="112000"/>
              </a:lnSpc>
              <a:buNone/>
            </a:pPr>
            <a:r>
              <a:rPr lang="en-US" sz="1100" dirty="0">
                <a:solidFill>
                  <a:srgbClr val="5B5B5B"/>
                </a:solidFill>
                <a:latin typeface="Calibri" pitchFamily="34" charset="0"/>
                <a:ea typeface="Calibri" pitchFamily="34" charset="-122"/>
                <a:cs typeface="Calibri" pitchFamily="34" charset="-120"/>
              </a:rPr>
              <a:t>Long-term open datasets such as DR-Train provide real in-service accelerometer data from light-rail vehicles.</a:t>
            </a:r>
            <a:endParaRPr lang="en-US" sz="1100" dirty="0"/>
          </a:p>
        </p:txBody>
      </p:sp>
      <p:sp>
        <p:nvSpPr>
          <p:cNvPr id="12" name="Shape 8"/>
          <p:cNvSpPr/>
          <p:nvPr/>
        </p:nvSpPr>
        <p:spPr>
          <a:xfrm>
            <a:off x="640080" y="4178046"/>
            <a:ext cx="566928" cy="566928"/>
          </a:xfrm>
          <a:prstGeom prst="ellipse">
            <a:avLst/>
          </a:prstGeom>
          <a:solidFill>
            <a:srgbClr val="1E3A8A"/>
          </a:solidFill>
          <a:ln/>
        </p:spPr>
        <p:txBody>
          <a:bodyPr/>
          <a:lstStyle/>
          <a:p>
            <a:endParaRPr lang="en-IN"/>
          </a:p>
        </p:txBody>
      </p:sp>
      <p:pic>
        <p:nvPicPr>
          <p:cNvPr id="13" name="Image 2" descr="/home/claude/edi_mse/icons/brain_w.png"/>
          <p:cNvPicPr>
            <a:picLocks noChangeAspect="1"/>
          </p:cNvPicPr>
          <p:nvPr/>
        </p:nvPicPr>
        <p:blipFill>
          <a:blip r:embed="rId5"/>
          <a:stretch>
            <a:fillRect/>
          </a:stretch>
        </p:blipFill>
        <p:spPr>
          <a:xfrm>
            <a:off x="764804" y="4302770"/>
            <a:ext cx="317480" cy="317480"/>
          </a:xfrm>
          <a:prstGeom prst="rect">
            <a:avLst/>
          </a:prstGeom>
        </p:spPr>
      </p:pic>
      <p:sp>
        <p:nvSpPr>
          <p:cNvPr id="14" name="Text 9"/>
          <p:cNvSpPr/>
          <p:nvPr/>
        </p:nvSpPr>
        <p:spPr>
          <a:xfrm>
            <a:off x="1371600" y="4159758"/>
            <a:ext cx="4206240" cy="292608"/>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Deep Learning Approaches</a:t>
            </a:r>
            <a:endParaRPr lang="en-US" sz="1400" dirty="0"/>
          </a:p>
        </p:txBody>
      </p:sp>
      <p:sp>
        <p:nvSpPr>
          <p:cNvPr id="15" name="Text 10"/>
          <p:cNvSpPr/>
          <p:nvPr/>
        </p:nvSpPr>
        <p:spPr>
          <a:xfrm>
            <a:off x="1371600" y="4470654"/>
            <a:ext cx="4297680" cy="566928"/>
          </a:xfrm>
          <a:prstGeom prst="rect">
            <a:avLst/>
          </a:prstGeom>
          <a:noFill/>
          <a:ln/>
        </p:spPr>
        <p:txBody>
          <a:bodyPr wrap="square" rtlCol="0" anchor="ctr"/>
          <a:lstStyle/>
          <a:p>
            <a:pPr marL="0" indent="0">
              <a:lnSpc>
                <a:spcPct val="112000"/>
              </a:lnSpc>
              <a:buNone/>
            </a:pPr>
            <a:r>
              <a:rPr lang="en-US" sz="1100" dirty="0">
                <a:solidFill>
                  <a:srgbClr val="5B5B5B"/>
                </a:solidFill>
                <a:latin typeface="Calibri" pitchFamily="34" charset="0"/>
                <a:ea typeface="Calibri" pitchFamily="34" charset="-122"/>
                <a:cs typeface="Calibri" pitchFamily="34" charset="-120"/>
              </a:rPr>
              <a:t>CNNs and wavelet-CNN hybrids now classify acoustic-emission waveforms with over 90% accuracy in controlled tests.</a:t>
            </a:r>
            <a:endParaRPr lang="en-US" sz="1100" dirty="0"/>
          </a:p>
        </p:txBody>
      </p:sp>
      <p:sp>
        <p:nvSpPr>
          <p:cNvPr id="16" name="Shape 11"/>
          <p:cNvSpPr/>
          <p:nvPr/>
        </p:nvSpPr>
        <p:spPr>
          <a:xfrm>
            <a:off x="640080" y="5110734"/>
            <a:ext cx="566928" cy="566928"/>
          </a:xfrm>
          <a:prstGeom prst="ellipse">
            <a:avLst/>
          </a:prstGeom>
          <a:solidFill>
            <a:srgbClr val="1E3A8A"/>
          </a:solidFill>
          <a:ln/>
        </p:spPr>
        <p:txBody>
          <a:bodyPr/>
          <a:lstStyle/>
          <a:p>
            <a:endParaRPr lang="en-IN"/>
          </a:p>
        </p:txBody>
      </p:sp>
      <p:pic>
        <p:nvPicPr>
          <p:cNvPr id="17" name="Image 3" descr="/home/claude/edi_mse/icons/chip_w.png"/>
          <p:cNvPicPr>
            <a:picLocks noChangeAspect="1"/>
          </p:cNvPicPr>
          <p:nvPr/>
        </p:nvPicPr>
        <p:blipFill>
          <a:blip r:embed="rId6"/>
          <a:stretch>
            <a:fillRect/>
          </a:stretch>
        </p:blipFill>
        <p:spPr>
          <a:xfrm>
            <a:off x="764804" y="5235458"/>
            <a:ext cx="317480" cy="317480"/>
          </a:xfrm>
          <a:prstGeom prst="rect">
            <a:avLst/>
          </a:prstGeom>
        </p:spPr>
      </p:pic>
      <p:sp>
        <p:nvSpPr>
          <p:cNvPr id="18" name="Text 12"/>
          <p:cNvSpPr/>
          <p:nvPr/>
        </p:nvSpPr>
        <p:spPr>
          <a:xfrm>
            <a:off x="1371600" y="5092446"/>
            <a:ext cx="4206240" cy="292608"/>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Edge AI</a:t>
            </a:r>
            <a:endParaRPr lang="en-US" sz="1400" dirty="0"/>
          </a:p>
        </p:txBody>
      </p:sp>
      <p:sp>
        <p:nvSpPr>
          <p:cNvPr id="19" name="Text 13"/>
          <p:cNvSpPr/>
          <p:nvPr/>
        </p:nvSpPr>
        <p:spPr>
          <a:xfrm>
            <a:off x="1371600" y="5403342"/>
            <a:ext cx="4297680" cy="566928"/>
          </a:xfrm>
          <a:prstGeom prst="rect">
            <a:avLst/>
          </a:prstGeom>
          <a:noFill/>
          <a:ln/>
        </p:spPr>
        <p:txBody>
          <a:bodyPr wrap="square" rtlCol="0" anchor="ctr"/>
          <a:lstStyle/>
          <a:p>
            <a:pPr marL="0" indent="0">
              <a:lnSpc>
                <a:spcPct val="112000"/>
              </a:lnSpc>
              <a:buNone/>
            </a:pPr>
            <a:r>
              <a:rPr lang="en-US" sz="1100" dirty="0">
                <a:solidFill>
                  <a:srgbClr val="5B5B5B"/>
                </a:solidFill>
                <a:latin typeface="Calibri" pitchFamily="34" charset="0"/>
                <a:ea typeface="Calibri" pitchFamily="34" charset="-122"/>
                <a:cs typeface="Calibri" pitchFamily="34" charset="-120"/>
              </a:rPr>
              <a:t>Lightweight models are increasingly deployed on microcontrollers (e.g., STM32) for on-device, low-latency inference.</a:t>
            </a:r>
            <a:endParaRPr lang="en-US" sz="1100" dirty="0"/>
          </a:p>
        </p:txBody>
      </p:sp>
      <p:sp>
        <p:nvSpPr>
          <p:cNvPr id="20" name="Shape 14"/>
          <p:cNvSpPr/>
          <p:nvPr/>
        </p:nvSpPr>
        <p:spPr>
          <a:xfrm>
            <a:off x="6400800" y="2266950"/>
            <a:ext cx="5166360" cy="2331720"/>
          </a:xfrm>
          <a:prstGeom prst="roundRect">
            <a:avLst>
              <a:gd name="adj" fmla="val 2745"/>
            </a:avLst>
          </a:prstGeom>
          <a:solidFill>
            <a:srgbClr val="EAF0FB"/>
          </a:solidFill>
          <a:ln w="12700">
            <a:solidFill>
              <a:srgbClr val="DADFE8"/>
            </a:solidFill>
            <a:prstDash val="solid"/>
          </a:ln>
        </p:spPr>
        <p:txBody>
          <a:bodyPr/>
          <a:lstStyle/>
          <a:p>
            <a:endParaRPr lang="en-IN"/>
          </a:p>
        </p:txBody>
      </p:sp>
      <p:sp>
        <p:nvSpPr>
          <p:cNvPr id="21" name="Text 15"/>
          <p:cNvSpPr/>
          <p:nvPr/>
        </p:nvSpPr>
        <p:spPr>
          <a:xfrm>
            <a:off x="6583680" y="2358390"/>
            <a:ext cx="4800600" cy="274320"/>
          </a:xfrm>
          <a:prstGeom prst="rect">
            <a:avLst/>
          </a:prstGeom>
          <a:noFill/>
          <a:ln/>
        </p:spPr>
        <p:txBody>
          <a:bodyPr wrap="square" rtlCol="0" anchor="ctr"/>
          <a:lstStyle/>
          <a:p>
            <a:pPr marL="0" indent="0">
              <a:buNone/>
            </a:pPr>
            <a:r>
              <a:rPr lang="en-US" sz="1050" b="1" dirty="0">
                <a:solidFill>
                  <a:srgbClr val="1E3A8A"/>
                </a:solidFill>
                <a:latin typeface="Calibri" pitchFamily="34" charset="0"/>
                <a:ea typeface="Calibri" pitchFamily="34" charset="-122"/>
                <a:cs typeface="Calibri" pitchFamily="34" charset="-120"/>
              </a:rPr>
              <a:t>Illustrative Vibration Signal — Impact Anomaly</a:t>
            </a:r>
            <a:endParaRPr lang="en-US" sz="1050" dirty="0"/>
          </a:p>
        </p:txBody>
      </p:sp>
      <p:graphicFrame>
        <p:nvGraphicFramePr>
          <p:cNvPr id="22" name="Chart 0"/>
          <p:cNvGraphicFramePr/>
          <p:nvPr>
            <p:extLst>
              <p:ext uri="{D42A27DB-BD31-4B8C-83A1-F6EECF244321}">
                <p14:modId xmlns:p14="http://schemas.microsoft.com/office/powerpoint/2010/main" val="3467174397"/>
              </p:ext>
            </p:extLst>
          </p:nvPr>
        </p:nvGraphicFramePr>
        <p:xfrm>
          <a:off x="6537960" y="2678430"/>
          <a:ext cx="4892040" cy="1783080"/>
        </p:xfrm>
        <a:graphic>
          <a:graphicData uri="http://schemas.openxmlformats.org/drawingml/2006/chart">
            <c:chart xmlns:c="http://schemas.openxmlformats.org/drawingml/2006/chart" xmlns:r="http://schemas.openxmlformats.org/officeDocument/2006/relationships" r:id="rId7"/>
          </a:graphicData>
        </a:graphic>
      </p:graphicFrame>
      <p:sp>
        <p:nvSpPr>
          <p:cNvPr id="23" name="Shape 16"/>
          <p:cNvSpPr/>
          <p:nvPr/>
        </p:nvSpPr>
        <p:spPr>
          <a:xfrm>
            <a:off x="6400800" y="4827270"/>
            <a:ext cx="5166360" cy="1417320"/>
          </a:xfrm>
          <a:prstGeom prst="roundRect">
            <a:avLst>
              <a:gd name="adj" fmla="val 4516"/>
            </a:avLst>
          </a:prstGeom>
          <a:solidFill>
            <a:srgbClr val="1E3A8A"/>
          </a:solidFill>
          <a:ln/>
        </p:spPr>
        <p:txBody>
          <a:bodyPr/>
          <a:lstStyle/>
          <a:p>
            <a:endParaRPr lang="en-IN"/>
          </a:p>
        </p:txBody>
      </p:sp>
      <p:sp>
        <p:nvSpPr>
          <p:cNvPr id="24" name="Shape 17"/>
          <p:cNvSpPr/>
          <p:nvPr/>
        </p:nvSpPr>
        <p:spPr>
          <a:xfrm>
            <a:off x="6629400" y="5055870"/>
            <a:ext cx="566928" cy="566928"/>
          </a:xfrm>
          <a:prstGeom prst="ellipse">
            <a:avLst/>
          </a:prstGeom>
          <a:solidFill>
            <a:srgbClr val="2C4487"/>
          </a:solidFill>
          <a:ln/>
        </p:spPr>
        <p:txBody>
          <a:bodyPr/>
          <a:lstStyle/>
          <a:p>
            <a:endParaRPr lang="en-IN"/>
          </a:p>
        </p:txBody>
      </p:sp>
      <p:pic>
        <p:nvPicPr>
          <p:cNvPr id="25" name="Image 4" descr="/home/claude/edi_mse/icons/sensor_w.png"/>
          <p:cNvPicPr>
            <a:picLocks noChangeAspect="1"/>
          </p:cNvPicPr>
          <p:nvPr/>
        </p:nvPicPr>
        <p:blipFill>
          <a:blip r:embed="rId8"/>
          <a:stretch>
            <a:fillRect/>
          </a:stretch>
        </p:blipFill>
        <p:spPr>
          <a:xfrm>
            <a:off x="6756959" y="5183429"/>
            <a:ext cx="311810" cy="311810"/>
          </a:xfrm>
          <a:prstGeom prst="rect">
            <a:avLst/>
          </a:prstGeom>
        </p:spPr>
      </p:pic>
      <p:sp>
        <p:nvSpPr>
          <p:cNvPr id="26" name="Text 18"/>
          <p:cNvSpPr/>
          <p:nvPr/>
        </p:nvSpPr>
        <p:spPr>
          <a:xfrm>
            <a:off x="7360920" y="5037582"/>
            <a:ext cx="402336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Vibration Sensor Node</a:t>
            </a:r>
            <a:endParaRPr lang="en-US" sz="1350" dirty="0"/>
          </a:p>
        </p:txBody>
      </p:sp>
      <p:sp>
        <p:nvSpPr>
          <p:cNvPr id="27" name="Text 19"/>
          <p:cNvSpPr/>
          <p:nvPr/>
        </p:nvSpPr>
        <p:spPr>
          <a:xfrm>
            <a:off x="7360920" y="5348478"/>
            <a:ext cx="4023360" cy="685800"/>
          </a:xfrm>
          <a:prstGeom prst="rect">
            <a:avLst/>
          </a:prstGeom>
          <a:noFill/>
          <a:ln/>
        </p:spPr>
        <p:txBody>
          <a:bodyPr wrap="square" rtlCol="0" anchor="ctr"/>
          <a:lstStyle/>
          <a:p>
            <a:pPr marL="0" indent="0">
              <a:lnSpc>
                <a:spcPct val="115000"/>
              </a:lnSpc>
              <a:buNone/>
            </a:pPr>
            <a:r>
              <a:rPr lang="en-US" sz="1050" dirty="0">
                <a:solidFill>
                  <a:srgbClr val="D7E0F5"/>
                </a:solidFill>
                <a:latin typeface="Calibri" pitchFamily="34" charset="0"/>
                <a:ea typeface="Calibri" pitchFamily="34" charset="-122"/>
                <a:cs typeface="Calibri" pitchFamily="34" charset="-120"/>
              </a:rPr>
              <a:t>MEMS accelerometer bonded to the rail web, streaming tri-axial data to the edge controller.</a:t>
            </a:r>
            <a:endParaRPr lang="en-US" sz="1050" dirty="0"/>
          </a:p>
        </p:txBody>
      </p:sp>
      <p:sp>
        <p:nvSpPr>
          <p:cNvPr id="29" name="Text 20"/>
          <p:cNvSpPr/>
          <p:nvPr/>
        </p:nvSpPr>
        <p:spPr>
          <a:xfrm>
            <a:off x="11551615" y="7369302"/>
            <a:ext cx="457200" cy="274320"/>
          </a:xfrm>
          <a:prstGeom prst="rect">
            <a:avLst/>
          </a:prstGeom>
          <a:noFill/>
          <a:ln/>
        </p:spPr>
        <p:txBody>
          <a:bodyPr wrap="square" rtlCol="0" anchor="ctr"/>
          <a:lstStyle/>
          <a:p>
            <a:pPr marL="0" indent="0" algn="r">
              <a:buNone/>
            </a:pPr>
            <a:r>
              <a:rPr lang="en-US" sz="900" dirty="0">
                <a:solidFill>
                  <a:srgbClr val="5B5B5B"/>
                </a:solidFill>
                <a:latin typeface="Calibri" pitchFamily="34" charset="0"/>
                <a:ea typeface="Calibri" pitchFamily="34" charset="-122"/>
                <a:cs typeface="Calibri" pitchFamily="34" charset="-120"/>
              </a:rPr>
              <a:t>04</a:t>
            </a:r>
            <a:endParaRPr lang="en-US" sz="900" dirty="0"/>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52647" y="412242"/>
            <a:ext cx="5486400" cy="274320"/>
          </a:xfrm>
          <a:prstGeom prst="rect">
            <a:avLst/>
          </a:prstGeom>
          <a:noFill/>
          <a:ln/>
        </p:spPr>
        <p:txBody>
          <a:bodyPr wrap="square" rtlCol="0" anchor="ctr"/>
          <a:lstStyle/>
          <a:p>
            <a:pPr marL="0" indent="0" algn="ctr">
              <a:buNone/>
            </a:pPr>
            <a:r>
              <a:rPr lang="en-US" sz="2800" b="1" kern="0" spc="200" dirty="0">
                <a:solidFill>
                  <a:srgbClr val="1E3A8A"/>
                </a:solidFill>
                <a:latin typeface="Calibri" pitchFamily="34" charset="0"/>
                <a:ea typeface="Calibri" pitchFamily="34" charset="-122"/>
                <a:cs typeface="Calibri" pitchFamily="34" charset="-120"/>
              </a:rPr>
              <a:t>RESEARCH GAP</a:t>
            </a:r>
            <a:endParaRPr lang="en-US" sz="2800" dirty="0"/>
          </a:p>
        </p:txBody>
      </p:sp>
      <p:sp>
        <p:nvSpPr>
          <p:cNvPr id="3" name="Text 1"/>
          <p:cNvSpPr/>
          <p:nvPr/>
        </p:nvSpPr>
        <p:spPr>
          <a:xfrm>
            <a:off x="640080" y="1807845"/>
            <a:ext cx="9144000" cy="54864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What Existing Systems Still Miss</a:t>
            </a:r>
            <a:endParaRPr lang="en-US" sz="2800" dirty="0"/>
          </a:p>
        </p:txBody>
      </p:sp>
      <p:sp>
        <p:nvSpPr>
          <p:cNvPr id="4" name="Shape 2"/>
          <p:cNvSpPr/>
          <p:nvPr/>
        </p:nvSpPr>
        <p:spPr>
          <a:xfrm>
            <a:off x="640080" y="2641560"/>
            <a:ext cx="4160520" cy="2880360"/>
          </a:xfrm>
          <a:prstGeom prst="roundRect">
            <a:avLst>
              <a:gd name="adj" fmla="val 2540"/>
            </a:avLst>
          </a:prstGeom>
          <a:solidFill>
            <a:srgbClr val="FBFBFC"/>
          </a:solidFill>
          <a:ln w="12700">
            <a:solidFill>
              <a:srgbClr val="DADFE8"/>
            </a:solidFill>
            <a:prstDash val="solid"/>
          </a:ln>
        </p:spPr>
        <p:txBody>
          <a:bodyPr/>
          <a:lstStyle/>
          <a:p>
            <a:endParaRPr lang="en-IN"/>
          </a:p>
        </p:txBody>
      </p:sp>
      <p:sp>
        <p:nvSpPr>
          <p:cNvPr id="5" name="Text 3"/>
          <p:cNvSpPr/>
          <p:nvPr/>
        </p:nvSpPr>
        <p:spPr>
          <a:xfrm>
            <a:off x="868680" y="2923413"/>
            <a:ext cx="3703320" cy="274320"/>
          </a:xfrm>
          <a:prstGeom prst="rect">
            <a:avLst/>
          </a:prstGeom>
          <a:noFill/>
          <a:ln/>
        </p:spPr>
        <p:txBody>
          <a:bodyPr wrap="square" rtlCol="0" anchor="ctr"/>
          <a:lstStyle/>
          <a:p>
            <a:pPr marL="0" indent="0">
              <a:buNone/>
            </a:pPr>
            <a:r>
              <a:rPr lang="en-US" sz="1200" b="1" kern="0" spc="150" dirty="0">
                <a:solidFill>
                  <a:srgbClr val="5B5B5B"/>
                </a:solidFill>
                <a:latin typeface="Calibri" pitchFamily="34" charset="0"/>
                <a:ea typeface="Calibri" pitchFamily="34" charset="-122"/>
                <a:cs typeface="Calibri" pitchFamily="34" charset="-120"/>
              </a:rPr>
              <a:t>CURRENT LIMITATIONS</a:t>
            </a:r>
            <a:endParaRPr lang="en-US" sz="1200" dirty="0"/>
          </a:p>
        </p:txBody>
      </p:sp>
      <p:sp>
        <p:nvSpPr>
          <p:cNvPr id="6" name="Shape 4"/>
          <p:cNvSpPr/>
          <p:nvPr/>
        </p:nvSpPr>
        <p:spPr>
          <a:xfrm>
            <a:off x="886968" y="3389757"/>
            <a:ext cx="73152" cy="73152"/>
          </a:xfrm>
          <a:prstGeom prst="ellipse">
            <a:avLst/>
          </a:prstGeom>
          <a:solidFill>
            <a:srgbClr val="5B5B5B"/>
          </a:solidFill>
          <a:ln/>
        </p:spPr>
        <p:txBody>
          <a:bodyPr/>
          <a:lstStyle/>
          <a:p>
            <a:endParaRPr lang="en-IN"/>
          </a:p>
        </p:txBody>
      </p:sp>
      <p:sp>
        <p:nvSpPr>
          <p:cNvPr id="7" name="Text 5"/>
          <p:cNvSpPr/>
          <p:nvPr/>
        </p:nvSpPr>
        <p:spPr>
          <a:xfrm>
            <a:off x="1097280" y="3181056"/>
            <a:ext cx="3520440" cy="502920"/>
          </a:xfrm>
          <a:prstGeom prst="rect">
            <a:avLst/>
          </a:prstGeom>
          <a:noFill/>
          <a:ln/>
        </p:spPr>
        <p:txBody>
          <a:bodyPr wrap="square" rtlCol="0" anchor="ctr"/>
          <a:lstStyle/>
          <a:p>
            <a:pPr marL="0" indent="0">
              <a:lnSpc>
                <a:spcPct val="112000"/>
              </a:lnSpc>
              <a:buNone/>
            </a:pPr>
            <a:r>
              <a:rPr lang="en-US" sz="1150" dirty="0">
                <a:solidFill>
                  <a:srgbClr val="1A1A1A"/>
                </a:solidFill>
                <a:latin typeface="Calibri" pitchFamily="34" charset="0"/>
                <a:ea typeface="Calibri" pitchFamily="34" charset="-122"/>
                <a:cs typeface="Calibri" pitchFamily="34" charset="-120"/>
              </a:rPr>
              <a:t>Most AE studies rely on lab-controlled crack sources</a:t>
            </a:r>
            <a:endParaRPr lang="en-US" sz="1150" dirty="0"/>
          </a:p>
        </p:txBody>
      </p:sp>
      <p:sp>
        <p:nvSpPr>
          <p:cNvPr id="8" name="Shape 6"/>
          <p:cNvSpPr/>
          <p:nvPr/>
        </p:nvSpPr>
        <p:spPr>
          <a:xfrm>
            <a:off x="886968" y="3965829"/>
            <a:ext cx="73152" cy="73152"/>
          </a:xfrm>
          <a:prstGeom prst="ellipse">
            <a:avLst/>
          </a:prstGeom>
          <a:solidFill>
            <a:srgbClr val="5B5B5B"/>
          </a:solidFill>
          <a:ln/>
        </p:spPr>
        <p:txBody>
          <a:bodyPr/>
          <a:lstStyle/>
          <a:p>
            <a:endParaRPr lang="en-IN"/>
          </a:p>
        </p:txBody>
      </p:sp>
      <p:sp>
        <p:nvSpPr>
          <p:cNvPr id="9" name="Text 7"/>
          <p:cNvSpPr/>
          <p:nvPr/>
        </p:nvSpPr>
        <p:spPr>
          <a:xfrm>
            <a:off x="1097280" y="3757128"/>
            <a:ext cx="3520440" cy="502920"/>
          </a:xfrm>
          <a:prstGeom prst="rect">
            <a:avLst/>
          </a:prstGeom>
          <a:noFill/>
          <a:ln/>
        </p:spPr>
        <p:txBody>
          <a:bodyPr wrap="square" rtlCol="0" anchor="ctr"/>
          <a:lstStyle/>
          <a:p>
            <a:pPr marL="0" indent="0">
              <a:lnSpc>
                <a:spcPct val="112000"/>
              </a:lnSpc>
              <a:buNone/>
            </a:pPr>
            <a:r>
              <a:rPr lang="en-US" sz="1150" dirty="0">
                <a:solidFill>
                  <a:srgbClr val="1A1A1A"/>
                </a:solidFill>
                <a:latin typeface="Calibri" pitchFamily="34" charset="0"/>
                <a:ea typeface="Calibri" pitchFamily="34" charset="-122"/>
                <a:cs typeface="Calibri" pitchFamily="34" charset="-120"/>
              </a:rPr>
              <a:t>Vibration-only methods detect geometry drift, not defect type</a:t>
            </a:r>
            <a:endParaRPr lang="en-US" sz="1150" dirty="0"/>
          </a:p>
        </p:txBody>
      </p:sp>
      <p:sp>
        <p:nvSpPr>
          <p:cNvPr id="10" name="Shape 8"/>
          <p:cNvSpPr/>
          <p:nvPr/>
        </p:nvSpPr>
        <p:spPr>
          <a:xfrm>
            <a:off x="886968" y="4541901"/>
            <a:ext cx="73152" cy="73152"/>
          </a:xfrm>
          <a:prstGeom prst="ellipse">
            <a:avLst/>
          </a:prstGeom>
          <a:solidFill>
            <a:srgbClr val="5B5B5B"/>
          </a:solidFill>
          <a:ln/>
        </p:spPr>
        <p:txBody>
          <a:bodyPr/>
          <a:lstStyle/>
          <a:p>
            <a:endParaRPr lang="en-IN"/>
          </a:p>
        </p:txBody>
      </p:sp>
      <p:sp>
        <p:nvSpPr>
          <p:cNvPr id="11" name="Text 9"/>
          <p:cNvSpPr/>
          <p:nvPr/>
        </p:nvSpPr>
        <p:spPr>
          <a:xfrm>
            <a:off x="1097280" y="4333200"/>
            <a:ext cx="3520440" cy="502920"/>
          </a:xfrm>
          <a:prstGeom prst="rect">
            <a:avLst/>
          </a:prstGeom>
          <a:noFill/>
          <a:ln/>
        </p:spPr>
        <p:txBody>
          <a:bodyPr wrap="square" rtlCol="0" anchor="ctr"/>
          <a:lstStyle/>
          <a:p>
            <a:pPr marL="0" indent="0">
              <a:lnSpc>
                <a:spcPct val="112000"/>
              </a:lnSpc>
              <a:buNone/>
            </a:pPr>
            <a:r>
              <a:rPr lang="en-US" sz="1150" dirty="0">
                <a:solidFill>
                  <a:srgbClr val="1A1A1A"/>
                </a:solidFill>
                <a:latin typeface="Calibri" pitchFamily="34" charset="0"/>
                <a:ea typeface="Calibri" pitchFamily="34" charset="-122"/>
                <a:cs typeface="Calibri" pitchFamily="34" charset="-120"/>
              </a:rPr>
              <a:t>Few systems combine edge inference with real-time alerting</a:t>
            </a:r>
            <a:endParaRPr lang="en-US" sz="1150" dirty="0"/>
          </a:p>
        </p:txBody>
      </p:sp>
      <p:sp>
        <p:nvSpPr>
          <p:cNvPr id="12" name="Shape 10"/>
          <p:cNvSpPr/>
          <p:nvPr/>
        </p:nvSpPr>
        <p:spPr>
          <a:xfrm>
            <a:off x="886968" y="5117973"/>
            <a:ext cx="73152" cy="73152"/>
          </a:xfrm>
          <a:prstGeom prst="ellipse">
            <a:avLst/>
          </a:prstGeom>
          <a:solidFill>
            <a:srgbClr val="5B5B5B"/>
          </a:solidFill>
          <a:ln/>
        </p:spPr>
        <p:txBody>
          <a:bodyPr/>
          <a:lstStyle/>
          <a:p>
            <a:endParaRPr lang="en-IN"/>
          </a:p>
        </p:txBody>
      </p:sp>
      <p:sp>
        <p:nvSpPr>
          <p:cNvPr id="13" name="Text 11"/>
          <p:cNvSpPr/>
          <p:nvPr/>
        </p:nvSpPr>
        <p:spPr>
          <a:xfrm>
            <a:off x="1097280" y="4909272"/>
            <a:ext cx="3520440" cy="502920"/>
          </a:xfrm>
          <a:prstGeom prst="rect">
            <a:avLst/>
          </a:prstGeom>
          <a:noFill/>
          <a:ln/>
        </p:spPr>
        <p:txBody>
          <a:bodyPr wrap="square" rtlCol="0" anchor="ctr"/>
          <a:lstStyle/>
          <a:p>
            <a:pPr marL="0" indent="0">
              <a:lnSpc>
                <a:spcPct val="112000"/>
              </a:lnSpc>
              <a:buNone/>
            </a:pPr>
            <a:r>
              <a:rPr lang="en-US" sz="1150" dirty="0">
                <a:solidFill>
                  <a:srgbClr val="1A1A1A"/>
                </a:solidFill>
                <a:latin typeface="Calibri" pitchFamily="34" charset="0"/>
                <a:ea typeface="Calibri" pitchFamily="34" charset="-122"/>
                <a:cs typeface="Calibri" pitchFamily="34" charset="-120"/>
              </a:rPr>
              <a:t>Limited focus on low-cost, field-deployable hardware</a:t>
            </a:r>
            <a:endParaRPr lang="en-US" sz="1150" dirty="0"/>
          </a:p>
        </p:txBody>
      </p:sp>
      <p:sp>
        <p:nvSpPr>
          <p:cNvPr id="14" name="Shape 12"/>
          <p:cNvSpPr/>
          <p:nvPr/>
        </p:nvSpPr>
        <p:spPr>
          <a:xfrm>
            <a:off x="5120640" y="2722245"/>
            <a:ext cx="4160520" cy="2880360"/>
          </a:xfrm>
          <a:prstGeom prst="roundRect">
            <a:avLst>
              <a:gd name="adj" fmla="val 2540"/>
            </a:avLst>
          </a:prstGeom>
          <a:solidFill>
            <a:srgbClr val="EAF0FB"/>
          </a:solidFill>
          <a:ln w="12700">
            <a:solidFill>
              <a:srgbClr val="5B7FBE"/>
            </a:solidFill>
            <a:prstDash val="solid"/>
          </a:ln>
        </p:spPr>
        <p:txBody>
          <a:bodyPr/>
          <a:lstStyle/>
          <a:p>
            <a:endParaRPr lang="en-IN"/>
          </a:p>
        </p:txBody>
      </p:sp>
      <p:sp>
        <p:nvSpPr>
          <p:cNvPr id="15" name="Text 13"/>
          <p:cNvSpPr/>
          <p:nvPr/>
        </p:nvSpPr>
        <p:spPr>
          <a:xfrm>
            <a:off x="5349240" y="2923413"/>
            <a:ext cx="3703320" cy="274320"/>
          </a:xfrm>
          <a:prstGeom prst="rect">
            <a:avLst/>
          </a:prstGeom>
          <a:noFill/>
          <a:ln/>
        </p:spPr>
        <p:txBody>
          <a:bodyPr wrap="square" rtlCol="0" anchor="ctr"/>
          <a:lstStyle/>
          <a:p>
            <a:pPr marL="0" indent="0">
              <a:buNone/>
            </a:pPr>
            <a:r>
              <a:rPr lang="en-US" sz="1200" b="1" kern="0" spc="150" dirty="0">
                <a:solidFill>
                  <a:srgbClr val="1E3A8A"/>
                </a:solidFill>
                <a:latin typeface="Calibri" pitchFamily="34" charset="0"/>
                <a:ea typeface="Calibri" pitchFamily="34" charset="-122"/>
                <a:cs typeface="Calibri" pitchFamily="34" charset="-120"/>
              </a:rPr>
              <a:t>OUR PROPOSED IMPROVEMENTS</a:t>
            </a:r>
            <a:endParaRPr lang="en-US" sz="1200" dirty="0"/>
          </a:p>
        </p:txBody>
      </p:sp>
      <p:sp>
        <p:nvSpPr>
          <p:cNvPr id="16" name="Shape 14"/>
          <p:cNvSpPr/>
          <p:nvPr/>
        </p:nvSpPr>
        <p:spPr>
          <a:xfrm>
            <a:off x="5367528" y="3389757"/>
            <a:ext cx="73152" cy="73152"/>
          </a:xfrm>
          <a:prstGeom prst="ellipse">
            <a:avLst/>
          </a:prstGeom>
          <a:solidFill>
            <a:srgbClr val="1E3A8A"/>
          </a:solidFill>
          <a:ln/>
        </p:spPr>
        <p:txBody>
          <a:bodyPr/>
          <a:lstStyle/>
          <a:p>
            <a:endParaRPr lang="en-IN"/>
          </a:p>
        </p:txBody>
      </p:sp>
      <p:sp>
        <p:nvSpPr>
          <p:cNvPr id="17" name="Text 15"/>
          <p:cNvSpPr/>
          <p:nvPr/>
        </p:nvSpPr>
        <p:spPr>
          <a:xfrm>
            <a:off x="5577840" y="3181056"/>
            <a:ext cx="3474720" cy="502920"/>
          </a:xfrm>
          <a:prstGeom prst="rect">
            <a:avLst/>
          </a:prstGeom>
          <a:noFill/>
          <a:ln/>
        </p:spPr>
        <p:txBody>
          <a:bodyPr wrap="square" rtlCol="0" anchor="ctr"/>
          <a:lstStyle/>
          <a:p>
            <a:pPr marL="0" indent="0">
              <a:lnSpc>
                <a:spcPct val="112000"/>
              </a:lnSpc>
              <a:buNone/>
            </a:pPr>
            <a:r>
              <a:rPr lang="en-US" sz="1150" dirty="0">
                <a:solidFill>
                  <a:srgbClr val="1A1A1A"/>
                </a:solidFill>
                <a:latin typeface="Calibri" pitchFamily="34" charset="0"/>
                <a:ea typeface="Calibri" pitchFamily="34" charset="-122"/>
                <a:cs typeface="Calibri" pitchFamily="34" charset="-120"/>
              </a:rPr>
              <a:t>Field-representative acoustic + vibration data fusion</a:t>
            </a:r>
            <a:endParaRPr lang="en-US" sz="1150" dirty="0"/>
          </a:p>
        </p:txBody>
      </p:sp>
      <p:sp>
        <p:nvSpPr>
          <p:cNvPr id="18" name="Shape 16"/>
          <p:cNvSpPr/>
          <p:nvPr/>
        </p:nvSpPr>
        <p:spPr>
          <a:xfrm>
            <a:off x="5367528" y="3965829"/>
            <a:ext cx="73152" cy="73152"/>
          </a:xfrm>
          <a:prstGeom prst="ellipse">
            <a:avLst/>
          </a:prstGeom>
          <a:solidFill>
            <a:srgbClr val="1E3A8A"/>
          </a:solidFill>
          <a:ln/>
        </p:spPr>
        <p:txBody>
          <a:bodyPr/>
          <a:lstStyle/>
          <a:p>
            <a:endParaRPr lang="en-IN"/>
          </a:p>
        </p:txBody>
      </p:sp>
      <p:sp>
        <p:nvSpPr>
          <p:cNvPr id="19" name="Text 17"/>
          <p:cNvSpPr/>
          <p:nvPr/>
        </p:nvSpPr>
        <p:spPr>
          <a:xfrm>
            <a:off x="5577840" y="3757128"/>
            <a:ext cx="3474720" cy="502920"/>
          </a:xfrm>
          <a:prstGeom prst="rect">
            <a:avLst/>
          </a:prstGeom>
          <a:noFill/>
          <a:ln/>
        </p:spPr>
        <p:txBody>
          <a:bodyPr wrap="square" rtlCol="0" anchor="ctr"/>
          <a:lstStyle/>
          <a:p>
            <a:pPr marL="0" indent="0">
              <a:lnSpc>
                <a:spcPct val="112000"/>
              </a:lnSpc>
              <a:buNone/>
            </a:pPr>
            <a:r>
              <a:rPr lang="en-US" sz="1150" dirty="0">
                <a:solidFill>
                  <a:srgbClr val="1A1A1A"/>
                </a:solidFill>
                <a:latin typeface="Calibri" pitchFamily="34" charset="0"/>
                <a:ea typeface="Calibri" pitchFamily="34" charset="-122"/>
                <a:cs typeface="Calibri" pitchFamily="34" charset="-120"/>
              </a:rPr>
              <a:t>On-device (STM32) FFT and feature extraction pipeline</a:t>
            </a:r>
            <a:endParaRPr lang="en-US" sz="1150" dirty="0"/>
          </a:p>
        </p:txBody>
      </p:sp>
      <p:sp>
        <p:nvSpPr>
          <p:cNvPr id="20" name="Shape 18"/>
          <p:cNvSpPr/>
          <p:nvPr/>
        </p:nvSpPr>
        <p:spPr>
          <a:xfrm>
            <a:off x="5367528" y="4541901"/>
            <a:ext cx="73152" cy="73152"/>
          </a:xfrm>
          <a:prstGeom prst="ellipse">
            <a:avLst/>
          </a:prstGeom>
          <a:solidFill>
            <a:srgbClr val="1E3A8A"/>
          </a:solidFill>
          <a:ln/>
        </p:spPr>
        <p:txBody>
          <a:bodyPr/>
          <a:lstStyle/>
          <a:p>
            <a:endParaRPr lang="en-IN"/>
          </a:p>
        </p:txBody>
      </p:sp>
      <p:sp>
        <p:nvSpPr>
          <p:cNvPr id="21" name="Text 19"/>
          <p:cNvSpPr/>
          <p:nvPr/>
        </p:nvSpPr>
        <p:spPr>
          <a:xfrm>
            <a:off x="5577840" y="4333200"/>
            <a:ext cx="3474720" cy="502920"/>
          </a:xfrm>
          <a:prstGeom prst="rect">
            <a:avLst/>
          </a:prstGeom>
          <a:noFill/>
          <a:ln/>
        </p:spPr>
        <p:txBody>
          <a:bodyPr wrap="square" rtlCol="0" anchor="ctr"/>
          <a:lstStyle/>
          <a:p>
            <a:pPr marL="0" indent="0">
              <a:lnSpc>
                <a:spcPct val="112000"/>
              </a:lnSpc>
              <a:buNone/>
            </a:pPr>
            <a:r>
              <a:rPr lang="en-US" sz="1150" dirty="0">
                <a:solidFill>
                  <a:srgbClr val="1A1A1A"/>
                </a:solidFill>
                <a:latin typeface="Calibri" pitchFamily="34" charset="0"/>
                <a:ea typeface="Calibri" pitchFamily="34" charset="-122"/>
                <a:cs typeface="Calibri" pitchFamily="34" charset="-120"/>
              </a:rPr>
              <a:t>ML classifier tuned to distinguish defect signatures</a:t>
            </a:r>
            <a:endParaRPr lang="en-US" sz="1150" dirty="0"/>
          </a:p>
        </p:txBody>
      </p:sp>
      <p:sp>
        <p:nvSpPr>
          <p:cNvPr id="22" name="Shape 20"/>
          <p:cNvSpPr/>
          <p:nvPr/>
        </p:nvSpPr>
        <p:spPr>
          <a:xfrm>
            <a:off x="5367528" y="5117973"/>
            <a:ext cx="73152" cy="73152"/>
          </a:xfrm>
          <a:prstGeom prst="ellipse">
            <a:avLst/>
          </a:prstGeom>
          <a:solidFill>
            <a:srgbClr val="1E3A8A"/>
          </a:solidFill>
          <a:ln/>
        </p:spPr>
        <p:txBody>
          <a:bodyPr/>
          <a:lstStyle/>
          <a:p>
            <a:endParaRPr lang="en-IN"/>
          </a:p>
        </p:txBody>
      </p:sp>
      <p:sp>
        <p:nvSpPr>
          <p:cNvPr id="23" name="Text 21"/>
          <p:cNvSpPr/>
          <p:nvPr/>
        </p:nvSpPr>
        <p:spPr>
          <a:xfrm>
            <a:off x="5577840" y="4909272"/>
            <a:ext cx="3474720" cy="502920"/>
          </a:xfrm>
          <a:prstGeom prst="rect">
            <a:avLst/>
          </a:prstGeom>
          <a:noFill/>
          <a:ln/>
        </p:spPr>
        <p:txBody>
          <a:bodyPr wrap="square" rtlCol="0" anchor="ctr"/>
          <a:lstStyle/>
          <a:p>
            <a:pPr marL="0" indent="0">
              <a:lnSpc>
                <a:spcPct val="112000"/>
              </a:lnSpc>
              <a:buNone/>
            </a:pPr>
            <a:r>
              <a:rPr lang="en-US" sz="1150" dirty="0">
                <a:solidFill>
                  <a:srgbClr val="1A1A1A"/>
                </a:solidFill>
                <a:latin typeface="Calibri" pitchFamily="34" charset="0"/>
                <a:ea typeface="Calibri" pitchFamily="34" charset="-122"/>
                <a:cs typeface="Calibri" pitchFamily="34" charset="-120"/>
              </a:rPr>
              <a:t>Real-time dashboard alerting for maintenance teams</a:t>
            </a:r>
            <a:endParaRPr lang="en-US" sz="1150" dirty="0"/>
          </a:p>
        </p:txBody>
      </p:sp>
      <p:sp>
        <p:nvSpPr>
          <p:cNvPr id="24" name="Shape 22"/>
          <p:cNvSpPr/>
          <p:nvPr/>
        </p:nvSpPr>
        <p:spPr>
          <a:xfrm>
            <a:off x="9601200" y="2722245"/>
            <a:ext cx="1950415" cy="2880360"/>
          </a:xfrm>
          <a:prstGeom prst="roundRect">
            <a:avLst>
              <a:gd name="adj" fmla="val 3751"/>
            </a:avLst>
          </a:prstGeom>
          <a:solidFill>
            <a:srgbClr val="15295E"/>
          </a:solidFill>
          <a:ln/>
        </p:spPr>
        <p:txBody>
          <a:bodyPr/>
          <a:lstStyle/>
          <a:p>
            <a:endParaRPr lang="en-IN"/>
          </a:p>
        </p:txBody>
      </p:sp>
      <p:sp>
        <p:nvSpPr>
          <p:cNvPr id="25" name="Shape 23"/>
          <p:cNvSpPr/>
          <p:nvPr/>
        </p:nvSpPr>
        <p:spPr>
          <a:xfrm>
            <a:off x="9829800" y="3842385"/>
            <a:ext cx="1493215" cy="640080"/>
          </a:xfrm>
          <a:prstGeom prst="rect">
            <a:avLst/>
          </a:prstGeom>
          <a:solidFill>
            <a:srgbClr val="2C4487"/>
          </a:solidFill>
          <a:ln/>
        </p:spPr>
        <p:txBody>
          <a:bodyPr/>
          <a:lstStyle/>
          <a:p>
            <a:endParaRPr lang="en-IN"/>
          </a:p>
        </p:txBody>
      </p:sp>
      <p:sp>
        <p:nvSpPr>
          <p:cNvPr id="26" name="Shape 24"/>
          <p:cNvSpPr/>
          <p:nvPr/>
        </p:nvSpPr>
        <p:spPr>
          <a:xfrm>
            <a:off x="10149840" y="4162425"/>
            <a:ext cx="274320" cy="0"/>
          </a:xfrm>
          <a:prstGeom prst="line">
            <a:avLst/>
          </a:prstGeom>
          <a:noFill/>
          <a:ln w="28575">
            <a:solidFill>
              <a:srgbClr val="FF6B6B"/>
            </a:solidFill>
            <a:prstDash val="solid"/>
          </a:ln>
        </p:spPr>
        <p:txBody>
          <a:bodyPr/>
          <a:lstStyle/>
          <a:p>
            <a:endParaRPr lang="en-IN"/>
          </a:p>
        </p:txBody>
      </p:sp>
      <p:sp>
        <p:nvSpPr>
          <p:cNvPr id="27" name="Shape 25"/>
          <p:cNvSpPr/>
          <p:nvPr/>
        </p:nvSpPr>
        <p:spPr>
          <a:xfrm>
            <a:off x="10424160" y="3997833"/>
            <a:ext cx="274320" cy="274320"/>
          </a:xfrm>
          <a:prstGeom prst="line">
            <a:avLst/>
          </a:prstGeom>
          <a:noFill/>
          <a:ln w="28575">
            <a:solidFill>
              <a:srgbClr val="FF6B6B"/>
            </a:solidFill>
            <a:prstDash val="solid"/>
          </a:ln>
        </p:spPr>
        <p:txBody>
          <a:bodyPr/>
          <a:lstStyle/>
          <a:p>
            <a:endParaRPr lang="en-IN"/>
          </a:p>
        </p:txBody>
      </p:sp>
      <p:sp>
        <p:nvSpPr>
          <p:cNvPr id="28" name="Shape 26"/>
          <p:cNvSpPr/>
          <p:nvPr/>
        </p:nvSpPr>
        <p:spPr>
          <a:xfrm>
            <a:off x="10698480" y="4272153"/>
            <a:ext cx="274320" cy="0"/>
          </a:xfrm>
          <a:prstGeom prst="line">
            <a:avLst/>
          </a:prstGeom>
          <a:noFill/>
          <a:ln w="28575">
            <a:solidFill>
              <a:srgbClr val="FF6B6B"/>
            </a:solidFill>
            <a:prstDash val="solid"/>
          </a:ln>
        </p:spPr>
        <p:txBody>
          <a:bodyPr/>
          <a:lstStyle/>
          <a:p>
            <a:endParaRPr lang="en-IN"/>
          </a:p>
        </p:txBody>
      </p:sp>
      <p:sp>
        <p:nvSpPr>
          <p:cNvPr id="29" name="Shape 27"/>
          <p:cNvSpPr/>
          <p:nvPr/>
        </p:nvSpPr>
        <p:spPr>
          <a:xfrm>
            <a:off x="10972800" y="4070985"/>
            <a:ext cx="274320" cy="274320"/>
          </a:xfrm>
          <a:prstGeom prst="line">
            <a:avLst/>
          </a:prstGeom>
          <a:noFill/>
          <a:ln w="28575">
            <a:solidFill>
              <a:srgbClr val="FF6B6B"/>
            </a:solidFill>
            <a:prstDash val="solid"/>
          </a:ln>
        </p:spPr>
        <p:txBody>
          <a:bodyPr/>
          <a:lstStyle/>
          <a:p>
            <a:endParaRPr lang="en-IN"/>
          </a:p>
        </p:txBody>
      </p:sp>
      <p:sp>
        <p:nvSpPr>
          <p:cNvPr id="30" name="Shape 28"/>
          <p:cNvSpPr/>
          <p:nvPr/>
        </p:nvSpPr>
        <p:spPr>
          <a:xfrm>
            <a:off x="11247120" y="4345305"/>
            <a:ext cx="228600" cy="0"/>
          </a:xfrm>
          <a:prstGeom prst="line">
            <a:avLst/>
          </a:prstGeom>
          <a:noFill/>
          <a:ln w="28575">
            <a:solidFill>
              <a:srgbClr val="FF6B6B"/>
            </a:solidFill>
            <a:prstDash val="solid"/>
          </a:ln>
        </p:spPr>
        <p:txBody>
          <a:bodyPr/>
          <a:lstStyle/>
          <a:p>
            <a:endParaRPr lang="en-IN"/>
          </a:p>
        </p:txBody>
      </p:sp>
      <p:sp>
        <p:nvSpPr>
          <p:cNvPr id="31" name="Text 29"/>
          <p:cNvSpPr/>
          <p:nvPr/>
        </p:nvSpPr>
        <p:spPr>
          <a:xfrm>
            <a:off x="9784080" y="4825365"/>
            <a:ext cx="1584655" cy="502920"/>
          </a:xfrm>
          <a:prstGeom prst="rect">
            <a:avLst/>
          </a:prstGeom>
          <a:noFill/>
          <a:ln/>
        </p:spPr>
        <p:txBody>
          <a:bodyPr wrap="square" rtlCol="0" anchor="ctr"/>
          <a:lstStyle/>
          <a:p>
            <a:pPr marL="0" indent="0" algn="ctr">
              <a:lnSpc>
                <a:spcPct val="110000"/>
              </a:lnSpc>
              <a:buNone/>
            </a:pPr>
            <a:r>
              <a:rPr lang="en-US" sz="1000" i="1" dirty="0">
                <a:solidFill>
                  <a:srgbClr val="D7E0F5"/>
                </a:solidFill>
                <a:latin typeface="Calibri" pitchFamily="34" charset="0"/>
                <a:ea typeface="Calibri" pitchFamily="34" charset="-122"/>
                <a:cs typeface="Calibri" pitchFamily="34" charset="-120"/>
              </a:rPr>
              <a:t>Rail Surface — Crack Propagation Zone</a:t>
            </a:r>
            <a:endParaRPr lang="en-US" sz="1000" dirty="0"/>
          </a:p>
        </p:txBody>
      </p:sp>
      <p:sp>
        <p:nvSpPr>
          <p:cNvPr id="32" name="Shape 30"/>
          <p:cNvSpPr/>
          <p:nvPr/>
        </p:nvSpPr>
        <p:spPr>
          <a:xfrm>
            <a:off x="640080" y="5803773"/>
            <a:ext cx="10911535" cy="640080"/>
          </a:xfrm>
          <a:prstGeom prst="roundRect">
            <a:avLst>
              <a:gd name="adj" fmla="val 10000"/>
            </a:avLst>
          </a:prstGeom>
          <a:solidFill>
            <a:srgbClr val="1E3A8A"/>
          </a:solidFill>
          <a:ln/>
        </p:spPr>
        <p:txBody>
          <a:bodyPr/>
          <a:lstStyle/>
          <a:p>
            <a:endParaRPr lang="en-IN"/>
          </a:p>
        </p:txBody>
      </p:sp>
      <p:sp>
        <p:nvSpPr>
          <p:cNvPr id="33" name="Text 31"/>
          <p:cNvSpPr/>
          <p:nvPr/>
        </p:nvSpPr>
        <p:spPr>
          <a:xfrm>
            <a:off x="868680" y="5803773"/>
            <a:ext cx="10454335" cy="640080"/>
          </a:xfrm>
          <a:prstGeom prst="rect">
            <a:avLst/>
          </a:prstGeom>
          <a:noFill/>
          <a:ln/>
        </p:spPr>
        <p:txBody>
          <a:bodyPr wrap="square" rtlCol="0" anchor="ctr"/>
          <a:lstStyle/>
          <a:p>
            <a:pPr marL="0" indent="0">
              <a:lnSpc>
                <a:spcPct val="115000"/>
              </a:lnSpc>
              <a:buNone/>
            </a:pPr>
            <a:r>
              <a:rPr lang="en-US" sz="1250" b="1" dirty="0">
                <a:solidFill>
                  <a:srgbClr val="FFFFFF"/>
                </a:solidFill>
                <a:latin typeface="Calibri" pitchFamily="34" charset="0"/>
                <a:ea typeface="Calibri" pitchFamily="34" charset="-122"/>
                <a:cs typeface="Calibri" pitchFamily="34" charset="-120"/>
              </a:rPr>
              <a:t>Research Gap:  </a:t>
            </a:r>
            <a:r>
              <a:rPr lang="en-US" sz="1250" dirty="0">
                <a:solidFill>
                  <a:srgbClr val="EAF0FB"/>
                </a:solidFill>
                <a:latin typeface="Calibri" pitchFamily="34" charset="0"/>
                <a:ea typeface="Calibri" pitchFamily="34" charset="-122"/>
                <a:cs typeface="Calibri" pitchFamily="34" charset="-120"/>
              </a:rPr>
              <a:t>No low-cost, field-deployable system currently fuses acoustic + vibration sensing with on-edge AI for real-time, defect-specific rail alerts.</a:t>
            </a:r>
            <a:endParaRPr lang="en-US" sz="1250" dirty="0"/>
          </a:p>
        </p:txBody>
      </p:sp>
      <p:sp>
        <p:nvSpPr>
          <p:cNvPr id="35" name="Text 32"/>
          <p:cNvSpPr/>
          <p:nvPr/>
        </p:nvSpPr>
        <p:spPr>
          <a:xfrm>
            <a:off x="11551615" y="7778877"/>
            <a:ext cx="457200" cy="274320"/>
          </a:xfrm>
          <a:prstGeom prst="rect">
            <a:avLst/>
          </a:prstGeom>
          <a:noFill/>
          <a:ln/>
        </p:spPr>
        <p:txBody>
          <a:bodyPr wrap="square" rtlCol="0" anchor="ctr"/>
          <a:lstStyle/>
          <a:p>
            <a:pPr marL="0" indent="0" algn="r">
              <a:buNone/>
            </a:pPr>
            <a:r>
              <a:rPr lang="en-US" sz="900" dirty="0">
                <a:solidFill>
                  <a:srgbClr val="5B5B5B"/>
                </a:solidFill>
                <a:latin typeface="Calibri" pitchFamily="34" charset="0"/>
                <a:ea typeface="Calibri" pitchFamily="34" charset="-122"/>
                <a:cs typeface="Calibri" pitchFamily="34" charset="-120"/>
              </a:rPr>
              <a:t>05</a:t>
            </a:r>
            <a:endParaRPr lang="en-US" sz="900" dirty="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971800" y="479679"/>
            <a:ext cx="5486400" cy="274320"/>
          </a:xfrm>
          <a:prstGeom prst="rect">
            <a:avLst/>
          </a:prstGeom>
          <a:noFill/>
          <a:ln/>
        </p:spPr>
        <p:txBody>
          <a:bodyPr wrap="square" rtlCol="0" anchor="ctr"/>
          <a:lstStyle/>
          <a:p>
            <a:pPr marL="0" indent="0" algn="ctr">
              <a:buNone/>
            </a:pPr>
            <a:r>
              <a:rPr lang="en-US" sz="2800" b="1" kern="0" spc="200" dirty="0">
                <a:solidFill>
                  <a:srgbClr val="1E3A8A"/>
                </a:solidFill>
                <a:latin typeface="Calibri" pitchFamily="34" charset="0"/>
                <a:ea typeface="Calibri" pitchFamily="34" charset="-122"/>
                <a:cs typeface="Calibri" pitchFamily="34" charset="-120"/>
              </a:rPr>
              <a:t>PROBLEM STATEMENT</a:t>
            </a:r>
            <a:endParaRPr lang="en-US" sz="2800" dirty="0"/>
          </a:p>
        </p:txBody>
      </p:sp>
      <p:sp>
        <p:nvSpPr>
          <p:cNvPr id="3" name="Text 1"/>
          <p:cNvSpPr/>
          <p:nvPr/>
        </p:nvSpPr>
        <p:spPr>
          <a:xfrm>
            <a:off x="640080" y="1483995"/>
            <a:ext cx="8686800" cy="54864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From Problem to Expected Output</a:t>
            </a:r>
            <a:endParaRPr lang="en-US" sz="2800" dirty="0"/>
          </a:p>
        </p:txBody>
      </p:sp>
      <p:sp>
        <p:nvSpPr>
          <p:cNvPr id="4" name="Shape 2"/>
          <p:cNvSpPr/>
          <p:nvPr/>
        </p:nvSpPr>
        <p:spPr>
          <a:xfrm>
            <a:off x="640080" y="2398395"/>
            <a:ext cx="4297680" cy="1051560"/>
          </a:xfrm>
          <a:prstGeom prst="roundRect">
            <a:avLst>
              <a:gd name="adj" fmla="val 6957"/>
            </a:avLst>
          </a:prstGeom>
          <a:solidFill>
            <a:srgbClr val="FBFBFC"/>
          </a:solidFill>
          <a:ln w="12700">
            <a:solidFill>
              <a:srgbClr val="DADFE8"/>
            </a:solidFill>
            <a:prstDash val="solid"/>
          </a:ln>
        </p:spPr>
        <p:txBody>
          <a:bodyPr/>
          <a:lstStyle/>
          <a:p>
            <a:endParaRPr lang="en-IN"/>
          </a:p>
        </p:txBody>
      </p:sp>
      <p:sp>
        <p:nvSpPr>
          <p:cNvPr id="5" name="Shape 3"/>
          <p:cNvSpPr/>
          <p:nvPr/>
        </p:nvSpPr>
        <p:spPr>
          <a:xfrm>
            <a:off x="822960" y="2640711"/>
            <a:ext cx="566928" cy="566928"/>
          </a:xfrm>
          <a:prstGeom prst="ellipse">
            <a:avLst/>
          </a:prstGeom>
          <a:solidFill>
            <a:srgbClr val="1E3A8A"/>
          </a:solidFill>
          <a:ln/>
        </p:spPr>
        <p:txBody>
          <a:bodyPr/>
          <a:lstStyle/>
          <a:p>
            <a:endParaRPr lang="en-IN"/>
          </a:p>
        </p:txBody>
      </p:sp>
      <p:pic>
        <p:nvPicPr>
          <p:cNvPr id="6" name="Image 0" descr="/home/claude/edi_mse/icons/search_w.png"/>
          <p:cNvPicPr>
            <a:picLocks noChangeAspect="1"/>
          </p:cNvPicPr>
          <p:nvPr/>
        </p:nvPicPr>
        <p:blipFill>
          <a:blip r:embed="rId3"/>
          <a:stretch>
            <a:fillRect/>
          </a:stretch>
        </p:blipFill>
        <p:spPr>
          <a:xfrm>
            <a:off x="950519" y="2768270"/>
            <a:ext cx="311810" cy="311810"/>
          </a:xfrm>
          <a:prstGeom prst="rect">
            <a:avLst/>
          </a:prstGeom>
        </p:spPr>
      </p:pic>
      <p:sp>
        <p:nvSpPr>
          <p:cNvPr id="7" name="Text 4"/>
          <p:cNvSpPr/>
          <p:nvPr/>
        </p:nvSpPr>
        <p:spPr>
          <a:xfrm>
            <a:off x="1508760" y="2526411"/>
            <a:ext cx="3383280" cy="27432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Current Problem</a:t>
            </a:r>
            <a:endParaRPr lang="en-US" sz="1400" dirty="0"/>
          </a:p>
        </p:txBody>
      </p:sp>
      <p:sp>
        <p:nvSpPr>
          <p:cNvPr id="8" name="Text 5"/>
          <p:cNvSpPr/>
          <p:nvPr/>
        </p:nvSpPr>
        <p:spPr>
          <a:xfrm>
            <a:off x="1508760" y="2819019"/>
            <a:ext cx="3383280" cy="548640"/>
          </a:xfrm>
          <a:prstGeom prst="rect">
            <a:avLst/>
          </a:prstGeom>
          <a:noFill/>
          <a:ln/>
        </p:spPr>
        <p:txBody>
          <a:bodyPr wrap="square" rtlCol="0" anchor="ctr"/>
          <a:lstStyle/>
          <a:p>
            <a:pPr marL="0" indent="0">
              <a:lnSpc>
                <a:spcPct val="110000"/>
              </a:lnSpc>
              <a:buNone/>
            </a:pPr>
            <a:r>
              <a:rPr lang="en-US" sz="1000" dirty="0">
                <a:solidFill>
                  <a:srgbClr val="5B5B5B"/>
                </a:solidFill>
                <a:latin typeface="Calibri" pitchFamily="34" charset="0"/>
                <a:ea typeface="Calibri" pitchFamily="34" charset="-122"/>
                <a:cs typeface="Calibri" pitchFamily="34" charset="-120"/>
              </a:rPr>
              <a:t>Manual rail inspection is slow, costly, and cannot catch early-stage defects reliably.</a:t>
            </a:r>
            <a:endParaRPr lang="en-US" sz="1000" dirty="0"/>
          </a:p>
        </p:txBody>
      </p:sp>
      <p:pic>
        <p:nvPicPr>
          <p:cNvPr id="9" name="Image 1" descr="/home/claude/edi_mse/icons/arrowdown.png"/>
          <p:cNvPicPr>
            <a:picLocks noChangeAspect="1"/>
          </p:cNvPicPr>
          <p:nvPr/>
        </p:nvPicPr>
        <p:blipFill>
          <a:blip r:embed="rId4"/>
          <a:stretch>
            <a:fillRect/>
          </a:stretch>
        </p:blipFill>
        <p:spPr>
          <a:xfrm>
            <a:off x="2679192" y="3504819"/>
            <a:ext cx="219456" cy="219456"/>
          </a:xfrm>
          <a:prstGeom prst="rect">
            <a:avLst/>
          </a:prstGeom>
        </p:spPr>
      </p:pic>
      <p:sp>
        <p:nvSpPr>
          <p:cNvPr id="10" name="Shape 6"/>
          <p:cNvSpPr/>
          <p:nvPr/>
        </p:nvSpPr>
        <p:spPr>
          <a:xfrm>
            <a:off x="640080" y="3834003"/>
            <a:ext cx="4297680" cy="1051560"/>
          </a:xfrm>
          <a:prstGeom prst="roundRect">
            <a:avLst>
              <a:gd name="adj" fmla="val 6957"/>
            </a:avLst>
          </a:prstGeom>
          <a:solidFill>
            <a:srgbClr val="1E3A8A"/>
          </a:solidFill>
          <a:ln w="12700">
            <a:solidFill>
              <a:srgbClr val="1E3A8A"/>
            </a:solidFill>
            <a:prstDash val="solid"/>
          </a:ln>
        </p:spPr>
        <p:txBody>
          <a:bodyPr/>
          <a:lstStyle/>
          <a:p>
            <a:endParaRPr lang="en-IN"/>
          </a:p>
        </p:txBody>
      </p:sp>
      <p:sp>
        <p:nvSpPr>
          <p:cNvPr id="11" name="Shape 7"/>
          <p:cNvSpPr/>
          <p:nvPr/>
        </p:nvSpPr>
        <p:spPr>
          <a:xfrm>
            <a:off x="822960" y="4076319"/>
            <a:ext cx="566928" cy="566928"/>
          </a:xfrm>
          <a:prstGeom prst="ellipse">
            <a:avLst/>
          </a:prstGeom>
          <a:solidFill>
            <a:srgbClr val="D7E0F5"/>
          </a:solidFill>
          <a:ln/>
        </p:spPr>
        <p:txBody>
          <a:bodyPr/>
          <a:lstStyle/>
          <a:p>
            <a:endParaRPr lang="en-IN"/>
          </a:p>
        </p:txBody>
      </p:sp>
      <p:pic>
        <p:nvPicPr>
          <p:cNvPr id="12" name="Image 2" descr="/home/claude/edi_mse/icons/chip.png"/>
          <p:cNvPicPr>
            <a:picLocks noChangeAspect="1"/>
          </p:cNvPicPr>
          <p:nvPr/>
        </p:nvPicPr>
        <p:blipFill>
          <a:blip r:embed="rId5"/>
          <a:stretch>
            <a:fillRect/>
          </a:stretch>
        </p:blipFill>
        <p:spPr>
          <a:xfrm>
            <a:off x="950519" y="4203878"/>
            <a:ext cx="311810" cy="311810"/>
          </a:xfrm>
          <a:prstGeom prst="rect">
            <a:avLst/>
          </a:prstGeom>
        </p:spPr>
      </p:pic>
      <p:sp>
        <p:nvSpPr>
          <p:cNvPr id="13" name="Text 8"/>
          <p:cNvSpPr/>
          <p:nvPr/>
        </p:nvSpPr>
        <p:spPr>
          <a:xfrm>
            <a:off x="1508760" y="3962019"/>
            <a:ext cx="338328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Our Solution</a:t>
            </a:r>
            <a:endParaRPr lang="en-US" sz="1400" dirty="0"/>
          </a:p>
        </p:txBody>
      </p:sp>
      <p:sp>
        <p:nvSpPr>
          <p:cNvPr id="14" name="Text 9"/>
          <p:cNvSpPr/>
          <p:nvPr/>
        </p:nvSpPr>
        <p:spPr>
          <a:xfrm>
            <a:off x="1508760" y="4254627"/>
            <a:ext cx="3383280" cy="548640"/>
          </a:xfrm>
          <a:prstGeom prst="rect">
            <a:avLst/>
          </a:prstGeom>
          <a:noFill/>
          <a:ln/>
        </p:spPr>
        <p:txBody>
          <a:bodyPr wrap="square" rtlCol="0" anchor="ctr"/>
          <a:lstStyle/>
          <a:p>
            <a:pPr marL="0" indent="0">
              <a:lnSpc>
                <a:spcPct val="110000"/>
              </a:lnSpc>
              <a:buNone/>
            </a:pPr>
            <a:r>
              <a:rPr lang="en-US" sz="1000" dirty="0">
                <a:solidFill>
                  <a:srgbClr val="D7E0F5"/>
                </a:solidFill>
                <a:latin typeface="Calibri" pitchFamily="34" charset="0"/>
                <a:ea typeface="Calibri" pitchFamily="34" charset="-122"/>
                <a:cs typeface="Calibri" pitchFamily="34" charset="-120"/>
              </a:rPr>
              <a:t>A low-cost embedded AI system that continuously senses, analyses, and classifies rail vibration/acoustic signals.</a:t>
            </a:r>
            <a:endParaRPr lang="en-US" sz="1000" dirty="0"/>
          </a:p>
        </p:txBody>
      </p:sp>
      <p:pic>
        <p:nvPicPr>
          <p:cNvPr id="15" name="Image 3" descr="/home/claude/edi_mse/icons/arrowdown.png"/>
          <p:cNvPicPr>
            <a:picLocks noChangeAspect="1"/>
          </p:cNvPicPr>
          <p:nvPr/>
        </p:nvPicPr>
        <p:blipFill>
          <a:blip r:embed="rId4"/>
          <a:stretch>
            <a:fillRect/>
          </a:stretch>
        </p:blipFill>
        <p:spPr>
          <a:xfrm>
            <a:off x="2679192" y="4940427"/>
            <a:ext cx="219456" cy="219456"/>
          </a:xfrm>
          <a:prstGeom prst="rect">
            <a:avLst/>
          </a:prstGeom>
        </p:spPr>
      </p:pic>
      <p:sp>
        <p:nvSpPr>
          <p:cNvPr id="16" name="Shape 10"/>
          <p:cNvSpPr/>
          <p:nvPr/>
        </p:nvSpPr>
        <p:spPr>
          <a:xfrm>
            <a:off x="640080" y="5269611"/>
            <a:ext cx="4297680" cy="1051560"/>
          </a:xfrm>
          <a:prstGeom prst="roundRect">
            <a:avLst>
              <a:gd name="adj" fmla="val 6957"/>
            </a:avLst>
          </a:prstGeom>
          <a:solidFill>
            <a:srgbClr val="FBFBFC"/>
          </a:solidFill>
          <a:ln w="12700">
            <a:solidFill>
              <a:srgbClr val="DADFE8"/>
            </a:solidFill>
            <a:prstDash val="solid"/>
          </a:ln>
        </p:spPr>
        <p:txBody>
          <a:bodyPr/>
          <a:lstStyle/>
          <a:p>
            <a:endParaRPr lang="en-IN"/>
          </a:p>
        </p:txBody>
      </p:sp>
      <p:sp>
        <p:nvSpPr>
          <p:cNvPr id="17" name="Shape 11"/>
          <p:cNvSpPr/>
          <p:nvPr/>
        </p:nvSpPr>
        <p:spPr>
          <a:xfrm>
            <a:off x="822960" y="5511927"/>
            <a:ext cx="566928" cy="566928"/>
          </a:xfrm>
          <a:prstGeom prst="ellipse">
            <a:avLst/>
          </a:prstGeom>
          <a:solidFill>
            <a:srgbClr val="1E3A8A"/>
          </a:solidFill>
          <a:ln/>
        </p:spPr>
        <p:txBody>
          <a:bodyPr/>
          <a:lstStyle/>
          <a:p>
            <a:endParaRPr lang="en-IN"/>
          </a:p>
        </p:txBody>
      </p:sp>
      <p:pic>
        <p:nvPicPr>
          <p:cNvPr id="18" name="Image 4" descr="/home/claude/edi_mse/icons/bullseye_w.png"/>
          <p:cNvPicPr>
            <a:picLocks noChangeAspect="1"/>
          </p:cNvPicPr>
          <p:nvPr/>
        </p:nvPicPr>
        <p:blipFill>
          <a:blip r:embed="rId6"/>
          <a:stretch>
            <a:fillRect/>
          </a:stretch>
        </p:blipFill>
        <p:spPr>
          <a:xfrm>
            <a:off x="950519" y="5639486"/>
            <a:ext cx="311810" cy="311810"/>
          </a:xfrm>
          <a:prstGeom prst="rect">
            <a:avLst/>
          </a:prstGeom>
        </p:spPr>
      </p:pic>
      <p:sp>
        <p:nvSpPr>
          <p:cNvPr id="19" name="Text 12"/>
          <p:cNvSpPr/>
          <p:nvPr/>
        </p:nvSpPr>
        <p:spPr>
          <a:xfrm>
            <a:off x="1508760" y="5397627"/>
            <a:ext cx="3383280" cy="27432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Expected Output</a:t>
            </a:r>
            <a:endParaRPr lang="en-US" sz="1400" dirty="0"/>
          </a:p>
        </p:txBody>
      </p:sp>
      <p:sp>
        <p:nvSpPr>
          <p:cNvPr id="20" name="Text 13"/>
          <p:cNvSpPr/>
          <p:nvPr/>
        </p:nvSpPr>
        <p:spPr>
          <a:xfrm>
            <a:off x="1508760" y="5690235"/>
            <a:ext cx="3383280" cy="548640"/>
          </a:xfrm>
          <a:prstGeom prst="rect">
            <a:avLst/>
          </a:prstGeom>
          <a:noFill/>
          <a:ln/>
        </p:spPr>
        <p:txBody>
          <a:bodyPr wrap="square" rtlCol="0" anchor="ctr"/>
          <a:lstStyle/>
          <a:p>
            <a:pPr marL="0" indent="0">
              <a:lnSpc>
                <a:spcPct val="110000"/>
              </a:lnSpc>
              <a:buNone/>
            </a:pPr>
            <a:r>
              <a:rPr lang="en-US" sz="1000" dirty="0">
                <a:solidFill>
                  <a:srgbClr val="5B5B5B"/>
                </a:solidFill>
                <a:latin typeface="Calibri" pitchFamily="34" charset="0"/>
                <a:ea typeface="Calibri" pitchFamily="34" charset="-122"/>
                <a:cs typeface="Calibri" pitchFamily="34" charset="-120"/>
              </a:rPr>
              <a:t>Real-time defect alerts with a predictive health dashboard for maintenance teams.</a:t>
            </a:r>
            <a:endParaRPr lang="en-US" sz="1000" dirty="0"/>
          </a:p>
        </p:txBody>
      </p:sp>
      <p:sp>
        <p:nvSpPr>
          <p:cNvPr id="21" name="Text 14"/>
          <p:cNvSpPr/>
          <p:nvPr/>
        </p:nvSpPr>
        <p:spPr>
          <a:xfrm>
            <a:off x="5486400" y="2169795"/>
            <a:ext cx="5486400" cy="292608"/>
          </a:xfrm>
          <a:prstGeom prst="rect">
            <a:avLst/>
          </a:prstGeom>
          <a:noFill/>
          <a:ln/>
        </p:spPr>
        <p:txBody>
          <a:bodyPr wrap="square" rtlCol="0" anchor="ctr"/>
          <a:lstStyle/>
          <a:p>
            <a:pPr marL="0" indent="0">
              <a:buNone/>
            </a:pPr>
            <a:r>
              <a:rPr lang="en-US" sz="1300" b="1" dirty="0">
                <a:solidFill>
                  <a:srgbClr val="1E3A8A"/>
                </a:solidFill>
                <a:latin typeface="Calibri" pitchFamily="34" charset="0"/>
                <a:ea typeface="Calibri" pitchFamily="34" charset="-122"/>
                <a:cs typeface="Calibri" pitchFamily="34" charset="-120"/>
              </a:rPr>
              <a:t>System Flowchart</a:t>
            </a:r>
            <a:endParaRPr lang="en-US" sz="1300" dirty="0"/>
          </a:p>
        </p:txBody>
      </p:sp>
      <p:sp>
        <p:nvSpPr>
          <p:cNvPr id="22" name="Shape 15"/>
          <p:cNvSpPr/>
          <p:nvPr/>
        </p:nvSpPr>
        <p:spPr>
          <a:xfrm>
            <a:off x="5486400" y="2581275"/>
            <a:ext cx="932688" cy="777240"/>
          </a:xfrm>
          <a:prstGeom prst="roundRect">
            <a:avLst>
              <a:gd name="adj" fmla="val 7059"/>
            </a:avLst>
          </a:prstGeom>
          <a:solidFill>
            <a:srgbClr val="EAF0FB"/>
          </a:solidFill>
          <a:ln w="12700">
            <a:solidFill>
              <a:srgbClr val="5B7FBE"/>
            </a:solidFill>
            <a:prstDash val="solid"/>
          </a:ln>
        </p:spPr>
        <p:txBody>
          <a:bodyPr/>
          <a:lstStyle/>
          <a:p>
            <a:endParaRPr lang="en-IN"/>
          </a:p>
        </p:txBody>
      </p:sp>
      <p:sp>
        <p:nvSpPr>
          <p:cNvPr id="23" name="Text 16"/>
          <p:cNvSpPr/>
          <p:nvPr/>
        </p:nvSpPr>
        <p:spPr>
          <a:xfrm>
            <a:off x="5486400" y="2581275"/>
            <a:ext cx="932688" cy="777240"/>
          </a:xfrm>
          <a:prstGeom prst="rect">
            <a:avLst/>
          </a:prstGeom>
          <a:noFill/>
          <a:ln/>
        </p:spPr>
        <p:txBody>
          <a:bodyPr wrap="square" rtlCol="0" anchor="ctr"/>
          <a:lstStyle/>
          <a:p>
            <a:pPr marL="0" indent="0" algn="ctr">
              <a:lnSpc>
                <a:spcPct val="100000"/>
              </a:lnSpc>
              <a:buNone/>
            </a:pPr>
            <a:r>
              <a:rPr lang="en-US" sz="950" b="1" dirty="0">
                <a:solidFill>
                  <a:srgbClr val="1A1A1A"/>
                </a:solidFill>
                <a:latin typeface="Calibri" pitchFamily="34" charset="0"/>
                <a:ea typeface="Calibri" pitchFamily="34" charset="-122"/>
                <a:cs typeface="Calibri" pitchFamily="34" charset="-120"/>
              </a:rPr>
              <a:t>Rail</a:t>
            </a:r>
            <a:endParaRPr lang="en-US" sz="950" dirty="0"/>
          </a:p>
        </p:txBody>
      </p:sp>
      <p:pic>
        <p:nvPicPr>
          <p:cNvPr id="24" name="Image 5" descr="/home/claude/edi_mse/icons/arrowdown.png"/>
          <p:cNvPicPr>
            <a:picLocks noChangeAspect="1"/>
          </p:cNvPicPr>
          <p:nvPr/>
        </p:nvPicPr>
        <p:blipFill>
          <a:blip r:embed="rId4"/>
          <a:stretch>
            <a:fillRect/>
          </a:stretch>
        </p:blipFill>
        <p:spPr>
          <a:xfrm rot="16200000">
            <a:off x="6419088" y="2887599"/>
            <a:ext cx="164592" cy="164592"/>
          </a:xfrm>
          <a:prstGeom prst="rect">
            <a:avLst/>
          </a:prstGeom>
        </p:spPr>
      </p:pic>
      <p:sp>
        <p:nvSpPr>
          <p:cNvPr id="25" name="Shape 17"/>
          <p:cNvSpPr/>
          <p:nvPr/>
        </p:nvSpPr>
        <p:spPr>
          <a:xfrm>
            <a:off x="6583680" y="2581275"/>
            <a:ext cx="932688" cy="777240"/>
          </a:xfrm>
          <a:prstGeom prst="roundRect">
            <a:avLst>
              <a:gd name="adj" fmla="val 7059"/>
            </a:avLst>
          </a:prstGeom>
          <a:solidFill>
            <a:srgbClr val="EAF0FB"/>
          </a:solidFill>
          <a:ln w="12700">
            <a:solidFill>
              <a:srgbClr val="5B7FBE"/>
            </a:solidFill>
            <a:prstDash val="solid"/>
          </a:ln>
        </p:spPr>
        <p:txBody>
          <a:bodyPr/>
          <a:lstStyle/>
          <a:p>
            <a:endParaRPr lang="en-IN"/>
          </a:p>
        </p:txBody>
      </p:sp>
      <p:sp>
        <p:nvSpPr>
          <p:cNvPr id="26" name="Text 18"/>
          <p:cNvSpPr/>
          <p:nvPr/>
        </p:nvSpPr>
        <p:spPr>
          <a:xfrm>
            <a:off x="6583680" y="2581275"/>
            <a:ext cx="932688" cy="777240"/>
          </a:xfrm>
          <a:prstGeom prst="rect">
            <a:avLst/>
          </a:prstGeom>
          <a:noFill/>
          <a:ln/>
        </p:spPr>
        <p:txBody>
          <a:bodyPr wrap="square" rtlCol="0" anchor="ctr"/>
          <a:lstStyle/>
          <a:p>
            <a:pPr marL="0" indent="0" algn="ctr">
              <a:lnSpc>
                <a:spcPct val="100000"/>
              </a:lnSpc>
              <a:buNone/>
            </a:pPr>
            <a:r>
              <a:rPr lang="en-US" sz="950" b="1" dirty="0">
                <a:solidFill>
                  <a:srgbClr val="1A1A1A"/>
                </a:solidFill>
                <a:latin typeface="Calibri" pitchFamily="34" charset="0"/>
                <a:ea typeface="Calibri" pitchFamily="34" charset="-122"/>
                <a:cs typeface="Calibri" pitchFamily="34" charset="-120"/>
              </a:rPr>
              <a:t>Sensor</a:t>
            </a:r>
            <a:endParaRPr lang="en-US" sz="950" dirty="0"/>
          </a:p>
        </p:txBody>
      </p:sp>
      <p:pic>
        <p:nvPicPr>
          <p:cNvPr id="27" name="Image 6" descr="/home/claude/edi_mse/icons/arrowdown.png"/>
          <p:cNvPicPr>
            <a:picLocks noChangeAspect="1"/>
          </p:cNvPicPr>
          <p:nvPr/>
        </p:nvPicPr>
        <p:blipFill>
          <a:blip r:embed="rId4"/>
          <a:stretch>
            <a:fillRect/>
          </a:stretch>
        </p:blipFill>
        <p:spPr>
          <a:xfrm rot="16200000">
            <a:off x="7516368" y="2887599"/>
            <a:ext cx="164592" cy="164592"/>
          </a:xfrm>
          <a:prstGeom prst="rect">
            <a:avLst/>
          </a:prstGeom>
        </p:spPr>
      </p:pic>
      <p:sp>
        <p:nvSpPr>
          <p:cNvPr id="28" name="Shape 19"/>
          <p:cNvSpPr/>
          <p:nvPr/>
        </p:nvSpPr>
        <p:spPr>
          <a:xfrm>
            <a:off x="7680960" y="2581275"/>
            <a:ext cx="932688" cy="777240"/>
          </a:xfrm>
          <a:prstGeom prst="roundRect">
            <a:avLst>
              <a:gd name="adj" fmla="val 7059"/>
            </a:avLst>
          </a:prstGeom>
          <a:solidFill>
            <a:srgbClr val="EAF0FB"/>
          </a:solidFill>
          <a:ln w="12700">
            <a:solidFill>
              <a:srgbClr val="5B7FBE"/>
            </a:solidFill>
            <a:prstDash val="solid"/>
          </a:ln>
        </p:spPr>
        <p:txBody>
          <a:bodyPr/>
          <a:lstStyle/>
          <a:p>
            <a:endParaRPr lang="en-IN"/>
          </a:p>
        </p:txBody>
      </p:sp>
      <p:sp>
        <p:nvSpPr>
          <p:cNvPr id="29" name="Text 20"/>
          <p:cNvSpPr/>
          <p:nvPr/>
        </p:nvSpPr>
        <p:spPr>
          <a:xfrm>
            <a:off x="7680960" y="2581275"/>
            <a:ext cx="932688" cy="777240"/>
          </a:xfrm>
          <a:prstGeom prst="rect">
            <a:avLst/>
          </a:prstGeom>
          <a:noFill/>
          <a:ln/>
        </p:spPr>
        <p:txBody>
          <a:bodyPr wrap="square" rtlCol="0" anchor="ctr"/>
          <a:lstStyle/>
          <a:p>
            <a:pPr marL="0" indent="0" algn="ctr">
              <a:lnSpc>
                <a:spcPct val="100000"/>
              </a:lnSpc>
              <a:buNone/>
            </a:pPr>
            <a:r>
              <a:rPr lang="en-US" sz="950" b="1" dirty="0">
                <a:solidFill>
                  <a:srgbClr val="1A1A1A"/>
                </a:solidFill>
                <a:latin typeface="Calibri" pitchFamily="34" charset="0"/>
                <a:ea typeface="Calibri" pitchFamily="34" charset="-122"/>
                <a:cs typeface="Calibri" pitchFamily="34" charset="-120"/>
              </a:rPr>
              <a:t>STM32</a:t>
            </a:r>
            <a:endParaRPr lang="en-US" sz="950" dirty="0"/>
          </a:p>
        </p:txBody>
      </p:sp>
      <p:pic>
        <p:nvPicPr>
          <p:cNvPr id="30" name="Image 7" descr="/home/claude/edi_mse/icons/arrowdown.png"/>
          <p:cNvPicPr>
            <a:picLocks noChangeAspect="1"/>
          </p:cNvPicPr>
          <p:nvPr/>
        </p:nvPicPr>
        <p:blipFill>
          <a:blip r:embed="rId4"/>
          <a:stretch>
            <a:fillRect/>
          </a:stretch>
        </p:blipFill>
        <p:spPr>
          <a:xfrm rot="16200000">
            <a:off x="8613648" y="2887599"/>
            <a:ext cx="164592" cy="164592"/>
          </a:xfrm>
          <a:prstGeom prst="rect">
            <a:avLst/>
          </a:prstGeom>
        </p:spPr>
      </p:pic>
      <p:sp>
        <p:nvSpPr>
          <p:cNvPr id="31" name="Shape 21"/>
          <p:cNvSpPr/>
          <p:nvPr/>
        </p:nvSpPr>
        <p:spPr>
          <a:xfrm>
            <a:off x="8778240" y="2581275"/>
            <a:ext cx="932688" cy="777240"/>
          </a:xfrm>
          <a:prstGeom prst="roundRect">
            <a:avLst>
              <a:gd name="adj" fmla="val 7059"/>
            </a:avLst>
          </a:prstGeom>
          <a:solidFill>
            <a:srgbClr val="EAF0FB"/>
          </a:solidFill>
          <a:ln w="12700">
            <a:solidFill>
              <a:srgbClr val="5B7FBE"/>
            </a:solidFill>
            <a:prstDash val="solid"/>
          </a:ln>
        </p:spPr>
        <p:txBody>
          <a:bodyPr/>
          <a:lstStyle/>
          <a:p>
            <a:endParaRPr lang="en-IN"/>
          </a:p>
        </p:txBody>
      </p:sp>
      <p:sp>
        <p:nvSpPr>
          <p:cNvPr id="32" name="Text 22"/>
          <p:cNvSpPr/>
          <p:nvPr/>
        </p:nvSpPr>
        <p:spPr>
          <a:xfrm>
            <a:off x="8778240" y="2581275"/>
            <a:ext cx="932688" cy="777240"/>
          </a:xfrm>
          <a:prstGeom prst="rect">
            <a:avLst/>
          </a:prstGeom>
          <a:noFill/>
          <a:ln/>
        </p:spPr>
        <p:txBody>
          <a:bodyPr wrap="square" rtlCol="0" anchor="ctr"/>
          <a:lstStyle/>
          <a:p>
            <a:pPr marL="0" indent="0" algn="ctr">
              <a:lnSpc>
                <a:spcPct val="100000"/>
              </a:lnSpc>
              <a:buNone/>
            </a:pPr>
            <a:r>
              <a:rPr lang="en-US" sz="950" b="1" dirty="0">
                <a:solidFill>
                  <a:srgbClr val="1A1A1A"/>
                </a:solidFill>
                <a:latin typeface="Calibri" pitchFamily="34" charset="0"/>
                <a:ea typeface="Calibri" pitchFamily="34" charset="-122"/>
                <a:cs typeface="Calibri" pitchFamily="34" charset="-120"/>
              </a:rPr>
              <a:t>Signal</a:t>
            </a:r>
            <a:endParaRPr lang="en-US" sz="950" dirty="0"/>
          </a:p>
          <a:p>
            <a:pPr marL="0" indent="0" algn="ctr">
              <a:lnSpc>
                <a:spcPct val="100000"/>
              </a:lnSpc>
              <a:buNone/>
            </a:pPr>
            <a:r>
              <a:rPr lang="en-US" sz="950" b="1" dirty="0">
                <a:solidFill>
                  <a:srgbClr val="1A1A1A"/>
                </a:solidFill>
                <a:latin typeface="Calibri" pitchFamily="34" charset="0"/>
                <a:ea typeface="Calibri" pitchFamily="34" charset="-122"/>
                <a:cs typeface="Calibri" pitchFamily="34" charset="-120"/>
              </a:rPr>
              <a:t>Processing</a:t>
            </a:r>
            <a:endParaRPr lang="en-US" sz="950" dirty="0"/>
          </a:p>
        </p:txBody>
      </p:sp>
      <p:pic>
        <p:nvPicPr>
          <p:cNvPr id="33" name="Image 8" descr="/home/claude/edi_mse/icons/arrowdown.png"/>
          <p:cNvPicPr>
            <a:picLocks noChangeAspect="1"/>
          </p:cNvPicPr>
          <p:nvPr/>
        </p:nvPicPr>
        <p:blipFill>
          <a:blip r:embed="rId4"/>
          <a:stretch>
            <a:fillRect/>
          </a:stretch>
        </p:blipFill>
        <p:spPr>
          <a:xfrm rot="16200000">
            <a:off x="9710928" y="2887599"/>
            <a:ext cx="164592" cy="164592"/>
          </a:xfrm>
          <a:prstGeom prst="rect">
            <a:avLst/>
          </a:prstGeom>
        </p:spPr>
      </p:pic>
      <p:sp>
        <p:nvSpPr>
          <p:cNvPr id="34" name="Shape 23"/>
          <p:cNvSpPr/>
          <p:nvPr/>
        </p:nvSpPr>
        <p:spPr>
          <a:xfrm>
            <a:off x="9875520" y="2581275"/>
            <a:ext cx="932688" cy="777240"/>
          </a:xfrm>
          <a:prstGeom prst="roundRect">
            <a:avLst>
              <a:gd name="adj" fmla="val 7059"/>
            </a:avLst>
          </a:prstGeom>
          <a:solidFill>
            <a:srgbClr val="1E3A8A"/>
          </a:solidFill>
          <a:ln w="12700">
            <a:solidFill>
              <a:srgbClr val="5B7FBE"/>
            </a:solidFill>
            <a:prstDash val="solid"/>
          </a:ln>
        </p:spPr>
        <p:txBody>
          <a:bodyPr/>
          <a:lstStyle/>
          <a:p>
            <a:endParaRPr lang="en-IN"/>
          </a:p>
        </p:txBody>
      </p:sp>
      <p:sp>
        <p:nvSpPr>
          <p:cNvPr id="35" name="Text 24"/>
          <p:cNvSpPr/>
          <p:nvPr/>
        </p:nvSpPr>
        <p:spPr>
          <a:xfrm>
            <a:off x="9875520" y="2581275"/>
            <a:ext cx="932688" cy="777240"/>
          </a:xfrm>
          <a:prstGeom prst="rect">
            <a:avLst/>
          </a:prstGeom>
          <a:noFill/>
          <a:ln/>
        </p:spPr>
        <p:txBody>
          <a:bodyPr wrap="square" rtlCol="0" anchor="ctr"/>
          <a:lstStyle/>
          <a:p>
            <a:pPr marL="0" indent="0" algn="ctr">
              <a:lnSpc>
                <a:spcPct val="100000"/>
              </a:lnSpc>
              <a:buNone/>
            </a:pPr>
            <a:r>
              <a:rPr lang="en-US" sz="950" b="1" dirty="0">
                <a:solidFill>
                  <a:srgbClr val="FFFFFF"/>
                </a:solidFill>
                <a:latin typeface="Calibri" pitchFamily="34" charset="0"/>
                <a:ea typeface="Calibri" pitchFamily="34" charset="-122"/>
                <a:cs typeface="Calibri" pitchFamily="34" charset="-120"/>
              </a:rPr>
              <a:t>AI Model</a:t>
            </a:r>
            <a:endParaRPr lang="en-US" sz="950" dirty="0"/>
          </a:p>
        </p:txBody>
      </p:sp>
      <p:pic>
        <p:nvPicPr>
          <p:cNvPr id="36" name="Image 9" descr="/home/claude/edi_mse/icons/arrowdown.png"/>
          <p:cNvPicPr>
            <a:picLocks noChangeAspect="1"/>
          </p:cNvPicPr>
          <p:nvPr/>
        </p:nvPicPr>
        <p:blipFill>
          <a:blip r:embed="rId4"/>
          <a:stretch>
            <a:fillRect/>
          </a:stretch>
        </p:blipFill>
        <p:spPr>
          <a:xfrm rot="16200000">
            <a:off x="10808208" y="2887599"/>
            <a:ext cx="164592" cy="164592"/>
          </a:xfrm>
          <a:prstGeom prst="rect">
            <a:avLst/>
          </a:prstGeom>
        </p:spPr>
      </p:pic>
      <p:sp>
        <p:nvSpPr>
          <p:cNvPr id="37" name="Shape 25"/>
          <p:cNvSpPr/>
          <p:nvPr/>
        </p:nvSpPr>
        <p:spPr>
          <a:xfrm>
            <a:off x="10972800" y="2581275"/>
            <a:ext cx="932688" cy="777240"/>
          </a:xfrm>
          <a:prstGeom prst="roundRect">
            <a:avLst>
              <a:gd name="adj" fmla="val 7059"/>
            </a:avLst>
          </a:prstGeom>
          <a:solidFill>
            <a:srgbClr val="EAF0FB"/>
          </a:solidFill>
          <a:ln w="12700">
            <a:solidFill>
              <a:srgbClr val="5B7FBE"/>
            </a:solidFill>
            <a:prstDash val="solid"/>
          </a:ln>
        </p:spPr>
        <p:txBody>
          <a:bodyPr/>
          <a:lstStyle/>
          <a:p>
            <a:endParaRPr lang="en-IN"/>
          </a:p>
        </p:txBody>
      </p:sp>
      <p:sp>
        <p:nvSpPr>
          <p:cNvPr id="38" name="Text 26"/>
          <p:cNvSpPr/>
          <p:nvPr/>
        </p:nvSpPr>
        <p:spPr>
          <a:xfrm>
            <a:off x="10972800" y="2581275"/>
            <a:ext cx="932688" cy="777240"/>
          </a:xfrm>
          <a:prstGeom prst="rect">
            <a:avLst/>
          </a:prstGeom>
          <a:noFill/>
          <a:ln/>
        </p:spPr>
        <p:txBody>
          <a:bodyPr wrap="square" rtlCol="0" anchor="ctr"/>
          <a:lstStyle/>
          <a:p>
            <a:pPr marL="0" indent="0" algn="ctr">
              <a:lnSpc>
                <a:spcPct val="100000"/>
              </a:lnSpc>
              <a:buNone/>
            </a:pPr>
            <a:r>
              <a:rPr lang="en-US" sz="950" b="1" dirty="0">
                <a:solidFill>
                  <a:srgbClr val="1A1A1A"/>
                </a:solidFill>
                <a:latin typeface="Calibri" pitchFamily="34" charset="0"/>
                <a:ea typeface="Calibri" pitchFamily="34" charset="-122"/>
                <a:cs typeface="Calibri" pitchFamily="34" charset="-120"/>
              </a:rPr>
              <a:t>Alert</a:t>
            </a:r>
            <a:endParaRPr lang="en-US" sz="950" dirty="0"/>
          </a:p>
        </p:txBody>
      </p:sp>
      <p:sp>
        <p:nvSpPr>
          <p:cNvPr id="39" name="Shape 27"/>
          <p:cNvSpPr/>
          <p:nvPr/>
        </p:nvSpPr>
        <p:spPr>
          <a:xfrm>
            <a:off x="5486400" y="3769995"/>
            <a:ext cx="6419088" cy="2331720"/>
          </a:xfrm>
          <a:prstGeom prst="roundRect">
            <a:avLst>
              <a:gd name="adj" fmla="val 2745"/>
            </a:avLst>
          </a:prstGeom>
          <a:solidFill>
            <a:srgbClr val="FBFBFC"/>
          </a:solidFill>
          <a:ln w="12700">
            <a:solidFill>
              <a:srgbClr val="DADFE8"/>
            </a:solidFill>
            <a:prstDash val="solid"/>
          </a:ln>
        </p:spPr>
        <p:txBody>
          <a:bodyPr/>
          <a:lstStyle/>
          <a:p>
            <a:endParaRPr lang="en-IN"/>
          </a:p>
        </p:txBody>
      </p:sp>
      <p:sp>
        <p:nvSpPr>
          <p:cNvPr id="40" name="Text 28"/>
          <p:cNvSpPr/>
          <p:nvPr/>
        </p:nvSpPr>
        <p:spPr>
          <a:xfrm>
            <a:off x="5715000" y="3952875"/>
            <a:ext cx="5029200" cy="274320"/>
          </a:xfrm>
          <a:prstGeom prst="rect">
            <a:avLst/>
          </a:prstGeom>
          <a:noFill/>
          <a:ln/>
        </p:spPr>
        <p:txBody>
          <a:bodyPr wrap="square" rtlCol="0" anchor="ctr"/>
          <a:lstStyle/>
          <a:p>
            <a:pPr marL="0" indent="0">
              <a:buNone/>
            </a:pPr>
            <a:r>
              <a:rPr lang="en-US" sz="1250" b="1" dirty="0">
                <a:solidFill>
                  <a:srgbClr val="1E3A8A"/>
                </a:solidFill>
                <a:latin typeface="Calibri" pitchFamily="34" charset="0"/>
                <a:ea typeface="Calibri" pitchFamily="34" charset="-122"/>
                <a:cs typeface="Calibri" pitchFamily="34" charset="-120"/>
              </a:rPr>
              <a:t>How it works</a:t>
            </a:r>
            <a:endParaRPr lang="en-US" sz="1250" dirty="0"/>
          </a:p>
        </p:txBody>
      </p:sp>
      <p:sp>
        <p:nvSpPr>
          <p:cNvPr id="41" name="Text 29"/>
          <p:cNvSpPr/>
          <p:nvPr/>
        </p:nvSpPr>
        <p:spPr>
          <a:xfrm>
            <a:off x="5715000" y="4291203"/>
            <a:ext cx="5120640" cy="320040"/>
          </a:xfrm>
          <a:prstGeom prst="rect">
            <a:avLst/>
          </a:prstGeom>
          <a:noFill/>
          <a:ln/>
        </p:spPr>
        <p:txBody>
          <a:bodyPr wrap="square" rtlCol="0" anchor="ctr"/>
          <a:lstStyle/>
          <a:p>
            <a:pPr marL="0" indent="0">
              <a:lnSpc>
                <a:spcPct val="110000"/>
              </a:lnSpc>
              <a:buNone/>
            </a:pPr>
            <a:r>
              <a:rPr lang="en-US" sz="1050" dirty="0">
                <a:solidFill>
                  <a:srgbClr val="1A1A1A"/>
                </a:solidFill>
                <a:latin typeface="Calibri" pitchFamily="34" charset="0"/>
                <a:ea typeface="Calibri" pitchFamily="34" charset="-122"/>
                <a:cs typeface="Calibri" pitchFamily="34" charset="-120"/>
              </a:rPr>
              <a:t>•  Wheel-rail interaction excites the rail structure.</a:t>
            </a:r>
            <a:endParaRPr lang="en-US" sz="1050" dirty="0"/>
          </a:p>
        </p:txBody>
      </p:sp>
      <p:sp>
        <p:nvSpPr>
          <p:cNvPr id="42" name="Text 30"/>
          <p:cNvSpPr/>
          <p:nvPr/>
        </p:nvSpPr>
        <p:spPr>
          <a:xfrm>
            <a:off x="5715000" y="4620387"/>
            <a:ext cx="5120640" cy="320040"/>
          </a:xfrm>
          <a:prstGeom prst="rect">
            <a:avLst/>
          </a:prstGeom>
          <a:noFill/>
          <a:ln/>
        </p:spPr>
        <p:txBody>
          <a:bodyPr wrap="square" rtlCol="0" anchor="ctr"/>
          <a:lstStyle/>
          <a:p>
            <a:pPr marL="0" indent="0">
              <a:lnSpc>
                <a:spcPct val="110000"/>
              </a:lnSpc>
              <a:buNone/>
            </a:pPr>
            <a:r>
              <a:rPr lang="en-US" sz="1050" dirty="0">
                <a:solidFill>
                  <a:srgbClr val="1A1A1A"/>
                </a:solidFill>
                <a:latin typeface="Calibri" pitchFamily="34" charset="0"/>
                <a:ea typeface="Calibri" pitchFamily="34" charset="-122"/>
                <a:cs typeface="Calibri" pitchFamily="34" charset="-120"/>
              </a:rPr>
              <a:t>•  A MEMS accelerometer captures vibration/acoustic waves.</a:t>
            </a:r>
            <a:endParaRPr lang="en-US" sz="1050" dirty="0"/>
          </a:p>
        </p:txBody>
      </p:sp>
      <p:sp>
        <p:nvSpPr>
          <p:cNvPr id="43" name="Text 31"/>
          <p:cNvSpPr/>
          <p:nvPr/>
        </p:nvSpPr>
        <p:spPr>
          <a:xfrm>
            <a:off x="5715000" y="4949571"/>
            <a:ext cx="5120640" cy="320040"/>
          </a:xfrm>
          <a:prstGeom prst="rect">
            <a:avLst/>
          </a:prstGeom>
          <a:noFill/>
          <a:ln/>
        </p:spPr>
        <p:txBody>
          <a:bodyPr wrap="square" rtlCol="0" anchor="ctr"/>
          <a:lstStyle/>
          <a:p>
            <a:pPr marL="0" indent="0">
              <a:lnSpc>
                <a:spcPct val="110000"/>
              </a:lnSpc>
              <a:buNone/>
            </a:pPr>
            <a:r>
              <a:rPr lang="en-US" sz="1050" dirty="0">
                <a:solidFill>
                  <a:srgbClr val="1A1A1A"/>
                </a:solidFill>
                <a:latin typeface="Calibri" pitchFamily="34" charset="0"/>
                <a:ea typeface="Calibri" pitchFamily="34" charset="-122"/>
                <a:cs typeface="Calibri" pitchFamily="34" charset="-120"/>
              </a:rPr>
              <a:t>•  STM32 samples, filters, and runs FFT feature extraction.</a:t>
            </a:r>
            <a:endParaRPr lang="en-US" sz="1050" dirty="0"/>
          </a:p>
        </p:txBody>
      </p:sp>
      <p:sp>
        <p:nvSpPr>
          <p:cNvPr id="44" name="Text 32"/>
          <p:cNvSpPr/>
          <p:nvPr/>
        </p:nvSpPr>
        <p:spPr>
          <a:xfrm>
            <a:off x="5715000" y="5278755"/>
            <a:ext cx="5120640" cy="320040"/>
          </a:xfrm>
          <a:prstGeom prst="rect">
            <a:avLst/>
          </a:prstGeom>
          <a:noFill/>
          <a:ln/>
        </p:spPr>
        <p:txBody>
          <a:bodyPr wrap="square" rtlCol="0" anchor="ctr"/>
          <a:lstStyle/>
          <a:p>
            <a:pPr marL="0" indent="0">
              <a:lnSpc>
                <a:spcPct val="110000"/>
              </a:lnSpc>
              <a:buNone/>
            </a:pPr>
            <a:r>
              <a:rPr lang="en-US" sz="1050" dirty="0">
                <a:solidFill>
                  <a:srgbClr val="1A1A1A"/>
                </a:solidFill>
                <a:latin typeface="Calibri" pitchFamily="34" charset="0"/>
                <a:ea typeface="Calibri" pitchFamily="34" charset="-122"/>
                <a:cs typeface="Calibri" pitchFamily="34" charset="-120"/>
              </a:rPr>
              <a:t>•  A trained ML model classifies signal patterns.</a:t>
            </a:r>
            <a:endParaRPr lang="en-US" sz="1050" dirty="0"/>
          </a:p>
        </p:txBody>
      </p:sp>
      <p:sp>
        <p:nvSpPr>
          <p:cNvPr id="45" name="Text 33"/>
          <p:cNvSpPr/>
          <p:nvPr/>
        </p:nvSpPr>
        <p:spPr>
          <a:xfrm>
            <a:off x="5715000" y="5607939"/>
            <a:ext cx="5120640" cy="320040"/>
          </a:xfrm>
          <a:prstGeom prst="rect">
            <a:avLst/>
          </a:prstGeom>
          <a:noFill/>
          <a:ln/>
        </p:spPr>
        <p:txBody>
          <a:bodyPr wrap="square" rtlCol="0" anchor="ctr"/>
          <a:lstStyle/>
          <a:p>
            <a:pPr marL="0" indent="0">
              <a:lnSpc>
                <a:spcPct val="110000"/>
              </a:lnSpc>
              <a:buNone/>
            </a:pPr>
            <a:r>
              <a:rPr lang="en-US" sz="1050" dirty="0">
                <a:solidFill>
                  <a:srgbClr val="1A1A1A"/>
                </a:solidFill>
                <a:latin typeface="Calibri" pitchFamily="34" charset="0"/>
                <a:ea typeface="Calibri" pitchFamily="34" charset="-122"/>
                <a:cs typeface="Calibri" pitchFamily="34" charset="-120"/>
              </a:rPr>
              <a:t>•  Defect probability above threshold triggers an alert.</a:t>
            </a:r>
            <a:endParaRPr lang="en-US" sz="1050" dirty="0"/>
          </a:p>
        </p:txBody>
      </p:sp>
      <p:sp>
        <p:nvSpPr>
          <p:cNvPr id="47" name="Text 34"/>
          <p:cNvSpPr/>
          <p:nvPr/>
        </p:nvSpPr>
        <p:spPr>
          <a:xfrm>
            <a:off x="11551615" y="7455027"/>
            <a:ext cx="457200" cy="274320"/>
          </a:xfrm>
          <a:prstGeom prst="rect">
            <a:avLst/>
          </a:prstGeom>
          <a:noFill/>
          <a:ln/>
        </p:spPr>
        <p:txBody>
          <a:bodyPr wrap="square" rtlCol="0" anchor="ctr"/>
          <a:lstStyle/>
          <a:p>
            <a:pPr marL="0" indent="0" algn="r">
              <a:buNone/>
            </a:pPr>
            <a:r>
              <a:rPr lang="en-US" sz="900" dirty="0">
                <a:solidFill>
                  <a:srgbClr val="5B5B5B"/>
                </a:solidFill>
                <a:latin typeface="Calibri" pitchFamily="34" charset="0"/>
                <a:ea typeface="Calibri" pitchFamily="34" charset="-122"/>
                <a:cs typeface="Calibri" pitchFamily="34" charset="-120"/>
              </a:rPr>
              <a:t>06</a:t>
            </a:r>
            <a:endParaRPr lang="en-US" sz="900" dirty="0"/>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52647" y="480822"/>
            <a:ext cx="5486400" cy="274320"/>
          </a:xfrm>
          <a:prstGeom prst="rect">
            <a:avLst/>
          </a:prstGeom>
          <a:noFill/>
          <a:ln/>
        </p:spPr>
        <p:txBody>
          <a:bodyPr wrap="square" rtlCol="0" anchor="ctr"/>
          <a:lstStyle/>
          <a:p>
            <a:pPr marL="0" indent="0" algn="ctr">
              <a:buNone/>
            </a:pPr>
            <a:r>
              <a:rPr lang="en-US" sz="2800" b="1" kern="0" spc="200" dirty="0">
                <a:solidFill>
                  <a:srgbClr val="1E3A8A"/>
                </a:solidFill>
                <a:latin typeface="Calibri" pitchFamily="34" charset="0"/>
                <a:ea typeface="Calibri" pitchFamily="34" charset="-122"/>
                <a:cs typeface="Calibri" pitchFamily="34" charset="-120"/>
              </a:rPr>
              <a:t>METHODOLOGY</a:t>
            </a:r>
            <a:endParaRPr lang="en-US" sz="2800" dirty="0"/>
          </a:p>
        </p:txBody>
      </p:sp>
      <p:sp>
        <p:nvSpPr>
          <p:cNvPr id="3" name="Text 1"/>
          <p:cNvSpPr/>
          <p:nvPr/>
        </p:nvSpPr>
        <p:spPr>
          <a:xfrm>
            <a:off x="640080" y="1560195"/>
            <a:ext cx="8686800" cy="54864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Planned Technical Workflow</a:t>
            </a:r>
            <a:endParaRPr lang="en-US" sz="2800" dirty="0"/>
          </a:p>
        </p:txBody>
      </p:sp>
      <p:sp>
        <p:nvSpPr>
          <p:cNvPr id="4" name="Shape 2"/>
          <p:cNvSpPr/>
          <p:nvPr/>
        </p:nvSpPr>
        <p:spPr>
          <a:xfrm>
            <a:off x="640080" y="2657475"/>
            <a:ext cx="1386361" cy="1417320"/>
          </a:xfrm>
          <a:prstGeom prst="roundRect">
            <a:avLst>
              <a:gd name="adj" fmla="val 4617"/>
            </a:avLst>
          </a:prstGeom>
          <a:solidFill>
            <a:srgbClr val="1E3A8A"/>
          </a:solidFill>
          <a:ln/>
        </p:spPr>
        <p:txBody>
          <a:bodyPr/>
          <a:lstStyle/>
          <a:p>
            <a:endParaRPr lang="en-IN"/>
          </a:p>
        </p:txBody>
      </p:sp>
      <p:sp>
        <p:nvSpPr>
          <p:cNvPr id="5" name="Text 3"/>
          <p:cNvSpPr/>
          <p:nvPr/>
        </p:nvSpPr>
        <p:spPr>
          <a:xfrm>
            <a:off x="713232" y="2712339"/>
            <a:ext cx="457200" cy="219456"/>
          </a:xfrm>
          <a:prstGeom prst="rect">
            <a:avLst/>
          </a:prstGeom>
          <a:noFill/>
          <a:ln/>
        </p:spPr>
        <p:txBody>
          <a:bodyPr wrap="square" rtlCol="0" anchor="ctr"/>
          <a:lstStyle/>
          <a:p>
            <a:pPr marL="0" indent="0">
              <a:buNone/>
            </a:pPr>
            <a:r>
              <a:rPr lang="en-US" sz="1000" b="1" dirty="0">
                <a:solidFill>
                  <a:srgbClr val="9FB6E8"/>
                </a:solidFill>
                <a:latin typeface="Calibri" pitchFamily="34" charset="0"/>
                <a:ea typeface="Calibri" pitchFamily="34" charset="-122"/>
                <a:cs typeface="Calibri" pitchFamily="34" charset="-120"/>
              </a:rPr>
              <a:t>01</a:t>
            </a:r>
            <a:endParaRPr lang="en-US" sz="1000" dirty="0"/>
          </a:p>
        </p:txBody>
      </p:sp>
      <p:sp>
        <p:nvSpPr>
          <p:cNvPr id="6" name="Shape 4"/>
          <p:cNvSpPr/>
          <p:nvPr/>
        </p:nvSpPr>
        <p:spPr>
          <a:xfrm>
            <a:off x="1095517" y="2950083"/>
            <a:ext cx="475488" cy="475488"/>
          </a:xfrm>
          <a:prstGeom prst="ellipse">
            <a:avLst/>
          </a:prstGeom>
          <a:solidFill>
            <a:srgbClr val="2C4487"/>
          </a:solidFill>
          <a:ln/>
        </p:spPr>
        <p:txBody>
          <a:bodyPr/>
          <a:lstStyle/>
          <a:p>
            <a:endParaRPr lang="en-IN"/>
          </a:p>
        </p:txBody>
      </p:sp>
      <p:pic>
        <p:nvPicPr>
          <p:cNvPr id="7" name="Image 0" descr="/home/claude/edi_mse/icons/database_w.png"/>
          <p:cNvPicPr>
            <a:picLocks noChangeAspect="1"/>
          </p:cNvPicPr>
          <p:nvPr/>
        </p:nvPicPr>
        <p:blipFill>
          <a:blip r:embed="rId3"/>
          <a:stretch>
            <a:fillRect/>
          </a:stretch>
        </p:blipFill>
        <p:spPr>
          <a:xfrm>
            <a:off x="1200124" y="3054690"/>
            <a:ext cx="266273" cy="266273"/>
          </a:xfrm>
          <a:prstGeom prst="rect">
            <a:avLst/>
          </a:prstGeom>
        </p:spPr>
      </p:pic>
      <p:sp>
        <p:nvSpPr>
          <p:cNvPr id="8" name="Text 5"/>
          <p:cNvSpPr/>
          <p:nvPr/>
        </p:nvSpPr>
        <p:spPr>
          <a:xfrm>
            <a:off x="640080" y="3498723"/>
            <a:ext cx="1386361" cy="502920"/>
          </a:xfrm>
          <a:prstGeom prst="rect">
            <a:avLst/>
          </a:prstGeom>
          <a:noFill/>
          <a:ln/>
        </p:spPr>
        <p:txBody>
          <a:bodyPr wrap="square"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Data</a:t>
            </a:r>
            <a:endParaRPr lang="en-US" sz="1050" dirty="0"/>
          </a:p>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Collection</a:t>
            </a:r>
            <a:endParaRPr lang="en-US" sz="1050" dirty="0"/>
          </a:p>
        </p:txBody>
      </p:sp>
      <p:pic>
        <p:nvPicPr>
          <p:cNvPr id="9" name="Image 1" descr="/home/claude/edi_mse/icons/arrowdown.png"/>
          <p:cNvPicPr>
            <a:picLocks noChangeAspect="1"/>
          </p:cNvPicPr>
          <p:nvPr/>
        </p:nvPicPr>
        <p:blipFill>
          <a:blip r:embed="rId4"/>
          <a:stretch>
            <a:fillRect/>
          </a:stretch>
        </p:blipFill>
        <p:spPr>
          <a:xfrm rot="16200000">
            <a:off x="2044729" y="3224403"/>
            <a:ext cx="164592" cy="164592"/>
          </a:xfrm>
          <a:prstGeom prst="rect">
            <a:avLst/>
          </a:prstGeom>
        </p:spPr>
      </p:pic>
      <p:sp>
        <p:nvSpPr>
          <p:cNvPr id="10" name="Shape 6"/>
          <p:cNvSpPr/>
          <p:nvPr/>
        </p:nvSpPr>
        <p:spPr>
          <a:xfrm>
            <a:off x="2227609" y="2913507"/>
            <a:ext cx="1386361" cy="1417320"/>
          </a:xfrm>
          <a:prstGeom prst="roundRect">
            <a:avLst>
              <a:gd name="adj" fmla="val 4617"/>
            </a:avLst>
          </a:prstGeom>
          <a:solidFill>
            <a:srgbClr val="EAF0FB"/>
          </a:solidFill>
          <a:ln/>
        </p:spPr>
        <p:txBody>
          <a:bodyPr/>
          <a:lstStyle/>
          <a:p>
            <a:endParaRPr lang="en-IN"/>
          </a:p>
        </p:txBody>
      </p:sp>
      <p:sp>
        <p:nvSpPr>
          <p:cNvPr id="11" name="Text 7"/>
          <p:cNvSpPr/>
          <p:nvPr/>
        </p:nvSpPr>
        <p:spPr>
          <a:xfrm>
            <a:off x="2300761" y="2968371"/>
            <a:ext cx="457200" cy="219456"/>
          </a:xfrm>
          <a:prstGeom prst="rect">
            <a:avLst/>
          </a:prstGeom>
          <a:noFill/>
          <a:ln/>
        </p:spPr>
        <p:txBody>
          <a:bodyPr wrap="square" rtlCol="0" anchor="ctr"/>
          <a:lstStyle/>
          <a:p>
            <a:pPr marL="0" indent="0">
              <a:buNone/>
            </a:pPr>
            <a:r>
              <a:rPr lang="en-US" sz="1000" b="1" dirty="0">
                <a:solidFill>
                  <a:srgbClr val="5B7FBE"/>
                </a:solidFill>
                <a:latin typeface="Calibri" pitchFamily="34" charset="0"/>
                <a:ea typeface="Calibri" pitchFamily="34" charset="-122"/>
                <a:cs typeface="Calibri" pitchFamily="34" charset="-120"/>
              </a:rPr>
              <a:t>02</a:t>
            </a:r>
            <a:endParaRPr lang="en-US" sz="1000" dirty="0"/>
          </a:p>
        </p:txBody>
      </p:sp>
      <p:sp>
        <p:nvSpPr>
          <p:cNvPr id="12" name="Shape 8"/>
          <p:cNvSpPr/>
          <p:nvPr/>
        </p:nvSpPr>
        <p:spPr>
          <a:xfrm>
            <a:off x="2683046" y="3206115"/>
            <a:ext cx="475488" cy="475488"/>
          </a:xfrm>
          <a:prstGeom prst="ellipse">
            <a:avLst/>
          </a:prstGeom>
          <a:solidFill>
            <a:srgbClr val="1E3A8A"/>
          </a:solidFill>
          <a:ln/>
        </p:spPr>
        <p:txBody>
          <a:bodyPr/>
          <a:lstStyle/>
          <a:p>
            <a:endParaRPr lang="en-IN"/>
          </a:p>
        </p:txBody>
      </p:sp>
      <p:pic>
        <p:nvPicPr>
          <p:cNvPr id="13" name="Image 2" descr="/home/claude/edi_mse/icons/filter_w.png"/>
          <p:cNvPicPr>
            <a:picLocks noChangeAspect="1"/>
          </p:cNvPicPr>
          <p:nvPr/>
        </p:nvPicPr>
        <p:blipFill>
          <a:blip r:embed="rId5"/>
          <a:stretch>
            <a:fillRect/>
          </a:stretch>
        </p:blipFill>
        <p:spPr>
          <a:xfrm>
            <a:off x="2787653" y="3310722"/>
            <a:ext cx="266273" cy="266273"/>
          </a:xfrm>
          <a:prstGeom prst="rect">
            <a:avLst/>
          </a:prstGeom>
        </p:spPr>
      </p:pic>
      <p:sp>
        <p:nvSpPr>
          <p:cNvPr id="14" name="Text 9"/>
          <p:cNvSpPr/>
          <p:nvPr/>
        </p:nvSpPr>
        <p:spPr>
          <a:xfrm>
            <a:off x="2227609" y="3754755"/>
            <a:ext cx="1386361" cy="502920"/>
          </a:xfrm>
          <a:prstGeom prst="rect">
            <a:avLst/>
          </a:prstGeom>
          <a:noFill/>
          <a:ln/>
        </p:spPr>
        <p:txBody>
          <a:bodyPr wrap="square" rtlCol="0" anchor="ctr"/>
          <a:lstStyle/>
          <a:p>
            <a:pPr marL="0" indent="0" algn="ctr">
              <a:lnSpc>
                <a:spcPct val="100000"/>
              </a:lnSpc>
              <a:buNone/>
            </a:pPr>
            <a:r>
              <a:rPr lang="en-US" sz="1050" b="1" dirty="0">
                <a:solidFill>
                  <a:srgbClr val="1A1A1A"/>
                </a:solidFill>
                <a:latin typeface="Calibri" pitchFamily="34" charset="0"/>
                <a:ea typeface="Calibri" pitchFamily="34" charset="-122"/>
                <a:cs typeface="Calibri" pitchFamily="34" charset="-120"/>
              </a:rPr>
              <a:t>Signal</a:t>
            </a:r>
            <a:endParaRPr lang="en-US" sz="1050" dirty="0"/>
          </a:p>
          <a:p>
            <a:pPr marL="0" indent="0" algn="ctr">
              <a:lnSpc>
                <a:spcPct val="100000"/>
              </a:lnSpc>
              <a:buNone/>
            </a:pPr>
            <a:r>
              <a:rPr lang="en-US" sz="1050" b="1" dirty="0">
                <a:solidFill>
                  <a:srgbClr val="1A1A1A"/>
                </a:solidFill>
                <a:latin typeface="Calibri" pitchFamily="34" charset="0"/>
                <a:ea typeface="Calibri" pitchFamily="34" charset="-122"/>
                <a:cs typeface="Calibri" pitchFamily="34" charset="-120"/>
              </a:rPr>
              <a:t>Filtering</a:t>
            </a:r>
            <a:endParaRPr lang="en-US" sz="1050" dirty="0"/>
          </a:p>
        </p:txBody>
      </p:sp>
      <p:pic>
        <p:nvPicPr>
          <p:cNvPr id="15" name="Image 3" descr="/home/claude/edi_mse/icons/arrowdown.png"/>
          <p:cNvPicPr>
            <a:picLocks noChangeAspect="1"/>
          </p:cNvPicPr>
          <p:nvPr/>
        </p:nvPicPr>
        <p:blipFill>
          <a:blip r:embed="rId4"/>
          <a:stretch>
            <a:fillRect/>
          </a:stretch>
        </p:blipFill>
        <p:spPr>
          <a:xfrm rot="16200000">
            <a:off x="3632258" y="3224403"/>
            <a:ext cx="164592" cy="164592"/>
          </a:xfrm>
          <a:prstGeom prst="rect">
            <a:avLst/>
          </a:prstGeom>
        </p:spPr>
      </p:pic>
      <p:sp>
        <p:nvSpPr>
          <p:cNvPr id="16" name="Shape 10"/>
          <p:cNvSpPr/>
          <p:nvPr/>
        </p:nvSpPr>
        <p:spPr>
          <a:xfrm>
            <a:off x="3815138" y="2657475"/>
            <a:ext cx="1386361" cy="1417320"/>
          </a:xfrm>
          <a:prstGeom prst="roundRect">
            <a:avLst>
              <a:gd name="adj" fmla="val 4617"/>
            </a:avLst>
          </a:prstGeom>
          <a:solidFill>
            <a:srgbClr val="1E3A8A"/>
          </a:solidFill>
          <a:ln/>
        </p:spPr>
        <p:txBody>
          <a:bodyPr/>
          <a:lstStyle/>
          <a:p>
            <a:endParaRPr lang="en-IN"/>
          </a:p>
        </p:txBody>
      </p:sp>
      <p:sp>
        <p:nvSpPr>
          <p:cNvPr id="17" name="Text 11"/>
          <p:cNvSpPr/>
          <p:nvPr/>
        </p:nvSpPr>
        <p:spPr>
          <a:xfrm>
            <a:off x="3888290" y="2712339"/>
            <a:ext cx="457200" cy="219456"/>
          </a:xfrm>
          <a:prstGeom prst="rect">
            <a:avLst/>
          </a:prstGeom>
          <a:noFill/>
          <a:ln/>
        </p:spPr>
        <p:txBody>
          <a:bodyPr wrap="square" rtlCol="0" anchor="ctr"/>
          <a:lstStyle/>
          <a:p>
            <a:pPr marL="0" indent="0">
              <a:buNone/>
            </a:pPr>
            <a:r>
              <a:rPr lang="en-US" sz="1000" b="1" dirty="0">
                <a:solidFill>
                  <a:srgbClr val="9FB6E8"/>
                </a:solidFill>
                <a:latin typeface="Calibri" pitchFamily="34" charset="0"/>
                <a:ea typeface="Calibri" pitchFamily="34" charset="-122"/>
                <a:cs typeface="Calibri" pitchFamily="34" charset="-120"/>
              </a:rPr>
              <a:t>03</a:t>
            </a:r>
            <a:endParaRPr lang="en-US" sz="1000" dirty="0"/>
          </a:p>
        </p:txBody>
      </p:sp>
      <p:sp>
        <p:nvSpPr>
          <p:cNvPr id="18" name="Shape 12"/>
          <p:cNvSpPr/>
          <p:nvPr/>
        </p:nvSpPr>
        <p:spPr>
          <a:xfrm>
            <a:off x="4270575" y="2950083"/>
            <a:ext cx="475488" cy="475488"/>
          </a:xfrm>
          <a:prstGeom prst="ellipse">
            <a:avLst/>
          </a:prstGeom>
          <a:solidFill>
            <a:srgbClr val="2C4487"/>
          </a:solidFill>
          <a:ln/>
        </p:spPr>
        <p:txBody>
          <a:bodyPr/>
          <a:lstStyle/>
          <a:p>
            <a:endParaRPr lang="en-IN"/>
          </a:p>
        </p:txBody>
      </p:sp>
      <p:pic>
        <p:nvPicPr>
          <p:cNvPr id="19" name="Image 4" descr="/home/claude/edi_mse/icons/chartline_w.png"/>
          <p:cNvPicPr>
            <a:picLocks noChangeAspect="1"/>
          </p:cNvPicPr>
          <p:nvPr/>
        </p:nvPicPr>
        <p:blipFill>
          <a:blip r:embed="rId6"/>
          <a:stretch>
            <a:fillRect/>
          </a:stretch>
        </p:blipFill>
        <p:spPr>
          <a:xfrm>
            <a:off x="4375182" y="3054690"/>
            <a:ext cx="266273" cy="266273"/>
          </a:xfrm>
          <a:prstGeom prst="rect">
            <a:avLst/>
          </a:prstGeom>
        </p:spPr>
      </p:pic>
      <p:sp>
        <p:nvSpPr>
          <p:cNvPr id="20" name="Text 13"/>
          <p:cNvSpPr/>
          <p:nvPr/>
        </p:nvSpPr>
        <p:spPr>
          <a:xfrm>
            <a:off x="3815138" y="3498723"/>
            <a:ext cx="1386361" cy="502920"/>
          </a:xfrm>
          <a:prstGeom prst="rect">
            <a:avLst/>
          </a:prstGeom>
          <a:noFill/>
          <a:ln/>
        </p:spPr>
        <p:txBody>
          <a:bodyPr wrap="square"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FFT</a:t>
            </a:r>
            <a:endParaRPr lang="en-US" sz="1050" dirty="0"/>
          </a:p>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Analysis</a:t>
            </a:r>
            <a:endParaRPr lang="en-US" sz="1050" dirty="0"/>
          </a:p>
        </p:txBody>
      </p:sp>
      <p:pic>
        <p:nvPicPr>
          <p:cNvPr id="21" name="Image 5" descr="/home/claude/edi_mse/icons/arrowdown.png"/>
          <p:cNvPicPr>
            <a:picLocks noChangeAspect="1"/>
          </p:cNvPicPr>
          <p:nvPr/>
        </p:nvPicPr>
        <p:blipFill>
          <a:blip r:embed="rId4"/>
          <a:stretch>
            <a:fillRect/>
          </a:stretch>
        </p:blipFill>
        <p:spPr>
          <a:xfrm rot="16200000">
            <a:off x="5219787" y="3224403"/>
            <a:ext cx="164592" cy="164592"/>
          </a:xfrm>
          <a:prstGeom prst="rect">
            <a:avLst/>
          </a:prstGeom>
        </p:spPr>
      </p:pic>
      <p:sp>
        <p:nvSpPr>
          <p:cNvPr id="22" name="Shape 14"/>
          <p:cNvSpPr/>
          <p:nvPr/>
        </p:nvSpPr>
        <p:spPr>
          <a:xfrm>
            <a:off x="5402667" y="2913507"/>
            <a:ext cx="1386361" cy="1417320"/>
          </a:xfrm>
          <a:prstGeom prst="roundRect">
            <a:avLst>
              <a:gd name="adj" fmla="val 4617"/>
            </a:avLst>
          </a:prstGeom>
          <a:solidFill>
            <a:srgbClr val="EAF0FB"/>
          </a:solidFill>
          <a:ln/>
        </p:spPr>
        <p:txBody>
          <a:bodyPr/>
          <a:lstStyle/>
          <a:p>
            <a:endParaRPr lang="en-IN"/>
          </a:p>
        </p:txBody>
      </p:sp>
      <p:sp>
        <p:nvSpPr>
          <p:cNvPr id="23" name="Text 15"/>
          <p:cNvSpPr/>
          <p:nvPr/>
        </p:nvSpPr>
        <p:spPr>
          <a:xfrm>
            <a:off x="5475819" y="2968371"/>
            <a:ext cx="457200" cy="219456"/>
          </a:xfrm>
          <a:prstGeom prst="rect">
            <a:avLst/>
          </a:prstGeom>
          <a:noFill/>
          <a:ln/>
        </p:spPr>
        <p:txBody>
          <a:bodyPr wrap="square" rtlCol="0" anchor="ctr"/>
          <a:lstStyle/>
          <a:p>
            <a:pPr marL="0" indent="0">
              <a:buNone/>
            </a:pPr>
            <a:r>
              <a:rPr lang="en-US" sz="1000" b="1" dirty="0">
                <a:solidFill>
                  <a:srgbClr val="5B7FBE"/>
                </a:solidFill>
                <a:latin typeface="Calibri" pitchFamily="34" charset="0"/>
                <a:ea typeface="Calibri" pitchFamily="34" charset="-122"/>
                <a:cs typeface="Calibri" pitchFamily="34" charset="-120"/>
              </a:rPr>
              <a:t>04</a:t>
            </a:r>
            <a:endParaRPr lang="en-US" sz="1000" dirty="0"/>
          </a:p>
        </p:txBody>
      </p:sp>
      <p:sp>
        <p:nvSpPr>
          <p:cNvPr id="24" name="Shape 16"/>
          <p:cNvSpPr/>
          <p:nvPr/>
        </p:nvSpPr>
        <p:spPr>
          <a:xfrm>
            <a:off x="5858104" y="3206115"/>
            <a:ext cx="475488" cy="475488"/>
          </a:xfrm>
          <a:prstGeom prst="ellipse">
            <a:avLst/>
          </a:prstGeom>
          <a:solidFill>
            <a:srgbClr val="1E3A8A"/>
          </a:solidFill>
          <a:ln/>
        </p:spPr>
        <p:txBody>
          <a:bodyPr/>
          <a:lstStyle/>
          <a:p>
            <a:endParaRPr lang="en-IN"/>
          </a:p>
        </p:txBody>
      </p:sp>
      <p:pic>
        <p:nvPicPr>
          <p:cNvPr id="25" name="Image 6" descr="/home/claude/edi_mse/icons/layers_w.png"/>
          <p:cNvPicPr>
            <a:picLocks noChangeAspect="1"/>
          </p:cNvPicPr>
          <p:nvPr/>
        </p:nvPicPr>
        <p:blipFill>
          <a:blip r:embed="rId7"/>
          <a:stretch>
            <a:fillRect/>
          </a:stretch>
        </p:blipFill>
        <p:spPr>
          <a:xfrm>
            <a:off x="5962711" y="3310722"/>
            <a:ext cx="266273" cy="266273"/>
          </a:xfrm>
          <a:prstGeom prst="rect">
            <a:avLst/>
          </a:prstGeom>
        </p:spPr>
      </p:pic>
      <p:sp>
        <p:nvSpPr>
          <p:cNvPr id="26" name="Text 17"/>
          <p:cNvSpPr/>
          <p:nvPr/>
        </p:nvSpPr>
        <p:spPr>
          <a:xfrm>
            <a:off x="5402667" y="3754755"/>
            <a:ext cx="1386361" cy="502920"/>
          </a:xfrm>
          <a:prstGeom prst="rect">
            <a:avLst/>
          </a:prstGeom>
          <a:noFill/>
          <a:ln/>
        </p:spPr>
        <p:txBody>
          <a:bodyPr wrap="square" rtlCol="0" anchor="ctr"/>
          <a:lstStyle/>
          <a:p>
            <a:pPr marL="0" indent="0" algn="ctr">
              <a:lnSpc>
                <a:spcPct val="100000"/>
              </a:lnSpc>
              <a:buNone/>
            </a:pPr>
            <a:r>
              <a:rPr lang="en-US" sz="1050" b="1" dirty="0">
                <a:solidFill>
                  <a:srgbClr val="1A1A1A"/>
                </a:solidFill>
                <a:latin typeface="Calibri" pitchFamily="34" charset="0"/>
                <a:ea typeface="Calibri" pitchFamily="34" charset="-122"/>
                <a:cs typeface="Calibri" pitchFamily="34" charset="-120"/>
              </a:rPr>
              <a:t>Feature</a:t>
            </a:r>
            <a:endParaRPr lang="en-US" sz="1050" dirty="0"/>
          </a:p>
          <a:p>
            <a:pPr marL="0" indent="0" algn="ctr">
              <a:lnSpc>
                <a:spcPct val="100000"/>
              </a:lnSpc>
              <a:buNone/>
            </a:pPr>
            <a:r>
              <a:rPr lang="en-US" sz="1050" b="1" dirty="0">
                <a:solidFill>
                  <a:srgbClr val="1A1A1A"/>
                </a:solidFill>
                <a:latin typeface="Calibri" pitchFamily="34" charset="0"/>
                <a:ea typeface="Calibri" pitchFamily="34" charset="-122"/>
                <a:cs typeface="Calibri" pitchFamily="34" charset="-120"/>
              </a:rPr>
              <a:t>Extraction</a:t>
            </a:r>
            <a:endParaRPr lang="en-US" sz="1050" dirty="0"/>
          </a:p>
        </p:txBody>
      </p:sp>
      <p:pic>
        <p:nvPicPr>
          <p:cNvPr id="27" name="Image 7" descr="/home/claude/edi_mse/icons/arrowdown.png"/>
          <p:cNvPicPr>
            <a:picLocks noChangeAspect="1"/>
          </p:cNvPicPr>
          <p:nvPr/>
        </p:nvPicPr>
        <p:blipFill>
          <a:blip r:embed="rId4"/>
          <a:stretch>
            <a:fillRect/>
          </a:stretch>
        </p:blipFill>
        <p:spPr>
          <a:xfrm rot="16200000">
            <a:off x="6807316" y="3224403"/>
            <a:ext cx="164592" cy="164592"/>
          </a:xfrm>
          <a:prstGeom prst="rect">
            <a:avLst/>
          </a:prstGeom>
        </p:spPr>
      </p:pic>
      <p:sp>
        <p:nvSpPr>
          <p:cNvPr id="28" name="Shape 18"/>
          <p:cNvSpPr/>
          <p:nvPr/>
        </p:nvSpPr>
        <p:spPr>
          <a:xfrm>
            <a:off x="6990196" y="2657475"/>
            <a:ext cx="1386361" cy="1417320"/>
          </a:xfrm>
          <a:prstGeom prst="roundRect">
            <a:avLst>
              <a:gd name="adj" fmla="val 4617"/>
            </a:avLst>
          </a:prstGeom>
          <a:solidFill>
            <a:srgbClr val="1E3A8A"/>
          </a:solidFill>
          <a:ln/>
        </p:spPr>
        <p:txBody>
          <a:bodyPr/>
          <a:lstStyle/>
          <a:p>
            <a:endParaRPr lang="en-IN"/>
          </a:p>
        </p:txBody>
      </p:sp>
      <p:sp>
        <p:nvSpPr>
          <p:cNvPr id="29" name="Text 19"/>
          <p:cNvSpPr/>
          <p:nvPr/>
        </p:nvSpPr>
        <p:spPr>
          <a:xfrm>
            <a:off x="7063348" y="2712339"/>
            <a:ext cx="457200" cy="219456"/>
          </a:xfrm>
          <a:prstGeom prst="rect">
            <a:avLst/>
          </a:prstGeom>
          <a:noFill/>
          <a:ln/>
        </p:spPr>
        <p:txBody>
          <a:bodyPr wrap="square" rtlCol="0" anchor="ctr"/>
          <a:lstStyle/>
          <a:p>
            <a:pPr marL="0" indent="0">
              <a:buNone/>
            </a:pPr>
            <a:r>
              <a:rPr lang="en-US" sz="1000" b="1" dirty="0">
                <a:solidFill>
                  <a:srgbClr val="9FB6E8"/>
                </a:solidFill>
                <a:latin typeface="Calibri" pitchFamily="34" charset="0"/>
                <a:ea typeface="Calibri" pitchFamily="34" charset="-122"/>
                <a:cs typeface="Calibri" pitchFamily="34" charset="-120"/>
              </a:rPr>
              <a:t>05</a:t>
            </a:r>
            <a:endParaRPr lang="en-US" sz="1000" dirty="0"/>
          </a:p>
        </p:txBody>
      </p:sp>
      <p:sp>
        <p:nvSpPr>
          <p:cNvPr id="30" name="Shape 20"/>
          <p:cNvSpPr/>
          <p:nvPr/>
        </p:nvSpPr>
        <p:spPr>
          <a:xfrm>
            <a:off x="7445633" y="2950083"/>
            <a:ext cx="475488" cy="475488"/>
          </a:xfrm>
          <a:prstGeom prst="ellipse">
            <a:avLst/>
          </a:prstGeom>
          <a:solidFill>
            <a:srgbClr val="2C4487"/>
          </a:solidFill>
          <a:ln/>
        </p:spPr>
        <p:txBody>
          <a:bodyPr/>
          <a:lstStyle/>
          <a:p>
            <a:endParaRPr lang="en-IN"/>
          </a:p>
        </p:txBody>
      </p:sp>
      <p:pic>
        <p:nvPicPr>
          <p:cNvPr id="31" name="Image 8" descr="/home/claude/edi_mse/icons/robot_w.png"/>
          <p:cNvPicPr>
            <a:picLocks noChangeAspect="1"/>
          </p:cNvPicPr>
          <p:nvPr/>
        </p:nvPicPr>
        <p:blipFill>
          <a:blip r:embed="rId8"/>
          <a:stretch>
            <a:fillRect/>
          </a:stretch>
        </p:blipFill>
        <p:spPr>
          <a:xfrm>
            <a:off x="7550240" y="3054690"/>
            <a:ext cx="266273" cy="266273"/>
          </a:xfrm>
          <a:prstGeom prst="rect">
            <a:avLst/>
          </a:prstGeom>
        </p:spPr>
      </p:pic>
      <p:sp>
        <p:nvSpPr>
          <p:cNvPr id="32" name="Text 21"/>
          <p:cNvSpPr/>
          <p:nvPr/>
        </p:nvSpPr>
        <p:spPr>
          <a:xfrm>
            <a:off x="6990196" y="3498723"/>
            <a:ext cx="1386361" cy="502920"/>
          </a:xfrm>
          <a:prstGeom prst="rect">
            <a:avLst/>
          </a:prstGeom>
          <a:noFill/>
          <a:ln/>
        </p:spPr>
        <p:txBody>
          <a:bodyPr wrap="square"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Machine</a:t>
            </a:r>
            <a:endParaRPr lang="en-US" sz="1050" dirty="0"/>
          </a:p>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Learning</a:t>
            </a:r>
            <a:endParaRPr lang="en-US" sz="1050" dirty="0"/>
          </a:p>
        </p:txBody>
      </p:sp>
      <p:pic>
        <p:nvPicPr>
          <p:cNvPr id="33" name="Image 9" descr="/home/claude/edi_mse/icons/arrowdown.png"/>
          <p:cNvPicPr>
            <a:picLocks noChangeAspect="1"/>
          </p:cNvPicPr>
          <p:nvPr/>
        </p:nvPicPr>
        <p:blipFill>
          <a:blip r:embed="rId4"/>
          <a:stretch>
            <a:fillRect/>
          </a:stretch>
        </p:blipFill>
        <p:spPr>
          <a:xfrm rot="16200000">
            <a:off x="8394845" y="3224403"/>
            <a:ext cx="164592" cy="164592"/>
          </a:xfrm>
          <a:prstGeom prst="rect">
            <a:avLst/>
          </a:prstGeom>
        </p:spPr>
      </p:pic>
      <p:sp>
        <p:nvSpPr>
          <p:cNvPr id="34" name="Shape 22"/>
          <p:cNvSpPr/>
          <p:nvPr/>
        </p:nvSpPr>
        <p:spPr>
          <a:xfrm>
            <a:off x="8577725" y="2913507"/>
            <a:ext cx="1386361" cy="1417320"/>
          </a:xfrm>
          <a:prstGeom prst="roundRect">
            <a:avLst>
              <a:gd name="adj" fmla="val 4617"/>
            </a:avLst>
          </a:prstGeom>
          <a:solidFill>
            <a:srgbClr val="EAF0FB"/>
          </a:solidFill>
          <a:ln/>
        </p:spPr>
        <p:txBody>
          <a:bodyPr/>
          <a:lstStyle/>
          <a:p>
            <a:endParaRPr lang="en-IN"/>
          </a:p>
        </p:txBody>
      </p:sp>
      <p:sp>
        <p:nvSpPr>
          <p:cNvPr id="35" name="Text 23"/>
          <p:cNvSpPr/>
          <p:nvPr/>
        </p:nvSpPr>
        <p:spPr>
          <a:xfrm>
            <a:off x="8650877" y="2968371"/>
            <a:ext cx="457200" cy="219456"/>
          </a:xfrm>
          <a:prstGeom prst="rect">
            <a:avLst/>
          </a:prstGeom>
          <a:noFill/>
          <a:ln/>
        </p:spPr>
        <p:txBody>
          <a:bodyPr wrap="square" rtlCol="0" anchor="ctr"/>
          <a:lstStyle/>
          <a:p>
            <a:pPr marL="0" indent="0">
              <a:buNone/>
            </a:pPr>
            <a:r>
              <a:rPr lang="en-US" sz="1000" b="1" dirty="0">
                <a:solidFill>
                  <a:srgbClr val="5B7FBE"/>
                </a:solidFill>
                <a:latin typeface="Calibri" pitchFamily="34" charset="0"/>
                <a:ea typeface="Calibri" pitchFamily="34" charset="-122"/>
                <a:cs typeface="Calibri" pitchFamily="34" charset="-120"/>
              </a:rPr>
              <a:t>06</a:t>
            </a:r>
            <a:endParaRPr lang="en-US" sz="1000" dirty="0"/>
          </a:p>
        </p:txBody>
      </p:sp>
      <p:sp>
        <p:nvSpPr>
          <p:cNvPr id="36" name="Shape 24"/>
          <p:cNvSpPr/>
          <p:nvPr/>
        </p:nvSpPr>
        <p:spPr>
          <a:xfrm>
            <a:off x="9033162" y="3206115"/>
            <a:ext cx="475488" cy="475488"/>
          </a:xfrm>
          <a:prstGeom prst="ellipse">
            <a:avLst/>
          </a:prstGeom>
          <a:solidFill>
            <a:srgbClr val="1E3A8A"/>
          </a:solidFill>
          <a:ln/>
        </p:spPr>
        <p:txBody>
          <a:bodyPr/>
          <a:lstStyle/>
          <a:p>
            <a:endParaRPr lang="en-IN"/>
          </a:p>
        </p:txBody>
      </p:sp>
      <p:pic>
        <p:nvPicPr>
          <p:cNvPr id="37" name="Image 10" descr="/home/claude/edi_mse/icons/search_w.png"/>
          <p:cNvPicPr>
            <a:picLocks noChangeAspect="1"/>
          </p:cNvPicPr>
          <p:nvPr/>
        </p:nvPicPr>
        <p:blipFill>
          <a:blip r:embed="rId9"/>
          <a:stretch>
            <a:fillRect/>
          </a:stretch>
        </p:blipFill>
        <p:spPr>
          <a:xfrm>
            <a:off x="9137769" y="3310722"/>
            <a:ext cx="266273" cy="266273"/>
          </a:xfrm>
          <a:prstGeom prst="rect">
            <a:avLst/>
          </a:prstGeom>
        </p:spPr>
      </p:pic>
      <p:sp>
        <p:nvSpPr>
          <p:cNvPr id="38" name="Text 25"/>
          <p:cNvSpPr/>
          <p:nvPr/>
        </p:nvSpPr>
        <p:spPr>
          <a:xfrm>
            <a:off x="8577725" y="3754755"/>
            <a:ext cx="1386361" cy="502920"/>
          </a:xfrm>
          <a:prstGeom prst="rect">
            <a:avLst/>
          </a:prstGeom>
          <a:noFill/>
          <a:ln/>
        </p:spPr>
        <p:txBody>
          <a:bodyPr wrap="square" rtlCol="0" anchor="ctr"/>
          <a:lstStyle/>
          <a:p>
            <a:pPr marL="0" indent="0" algn="ctr">
              <a:lnSpc>
                <a:spcPct val="100000"/>
              </a:lnSpc>
              <a:buNone/>
            </a:pPr>
            <a:r>
              <a:rPr lang="en-US" sz="1050" b="1" dirty="0">
                <a:solidFill>
                  <a:srgbClr val="1A1A1A"/>
                </a:solidFill>
                <a:latin typeface="Calibri" pitchFamily="34" charset="0"/>
                <a:ea typeface="Calibri" pitchFamily="34" charset="-122"/>
                <a:cs typeface="Calibri" pitchFamily="34" charset="-120"/>
              </a:rPr>
              <a:t>Defect</a:t>
            </a:r>
            <a:endParaRPr lang="en-US" sz="1050" dirty="0"/>
          </a:p>
          <a:p>
            <a:pPr marL="0" indent="0" algn="ctr">
              <a:lnSpc>
                <a:spcPct val="100000"/>
              </a:lnSpc>
              <a:buNone/>
            </a:pPr>
            <a:r>
              <a:rPr lang="en-US" sz="1050" b="1" dirty="0">
                <a:solidFill>
                  <a:srgbClr val="1A1A1A"/>
                </a:solidFill>
                <a:latin typeface="Calibri" pitchFamily="34" charset="0"/>
                <a:ea typeface="Calibri" pitchFamily="34" charset="-122"/>
                <a:cs typeface="Calibri" pitchFamily="34" charset="-120"/>
              </a:rPr>
              <a:t>Detection</a:t>
            </a:r>
            <a:endParaRPr lang="en-US" sz="1050" dirty="0"/>
          </a:p>
        </p:txBody>
      </p:sp>
      <p:pic>
        <p:nvPicPr>
          <p:cNvPr id="39" name="Image 11" descr="/home/claude/edi_mse/icons/arrowdown.png"/>
          <p:cNvPicPr>
            <a:picLocks noChangeAspect="1"/>
          </p:cNvPicPr>
          <p:nvPr/>
        </p:nvPicPr>
        <p:blipFill>
          <a:blip r:embed="rId4"/>
          <a:stretch>
            <a:fillRect/>
          </a:stretch>
        </p:blipFill>
        <p:spPr>
          <a:xfrm rot="16200000">
            <a:off x="9982374" y="3224403"/>
            <a:ext cx="164592" cy="164592"/>
          </a:xfrm>
          <a:prstGeom prst="rect">
            <a:avLst/>
          </a:prstGeom>
        </p:spPr>
      </p:pic>
      <p:sp>
        <p:nvSpPr>
          <p:cNvPr id="40" name="Shape 26"/>
          <p:cNvSpPr/>
          <p:nvPr/>
        </p:nvSpPr>
        <p:spPr>
          <a:xfrm>
            <a:off x="10165254" y="2657475"/>
            <a:ext cx="1386361" cy="1417320"/>
          </a:xfrm>
          <a:prstGeom prst="roundRect">
            <a:avLst>
              <a:gd name="adj" fmla="val 4617"/>
            </a:avLst>
          </a:prstGeom>
          <a:solidFill>
            <a:srgbClr val="1E3A8A"/>
          </a:solidFill>
          <a:ln/>
        </p:spPr>
        <p:txBody>
          <a:bodyPr/>
          <a:lstStyle/>
          <a:p>
            <a:endParaRPr lang="en-IN"/>
          </a:p>
        </p:txBody>
      </p:sp>
      <p:sp>
        <p:nvSpPr>
          <p:cNvPr id="41" name="Text 27"/>
          <p:cNvSpPr/>
          <p:nvPr/>
        </p:nvSpPr>
        <p:spPr>
          <a:xfrm>
            <a:off x="10238406" y="2712339"/>
            <a:ext cx="457200" cy="219456"/>
          </a:xfrm>
          <a:prstGeom prst="rect">
            <a:avLst/>
          </a:prstGeom>
          <a:noFill/>
          <a:ln/>
        </p:spPr>
        <p:txBody>
          <a:bodyPr wrap="square" rtlCol="0" anchor="ctr"/>
          <a:lstStyle/>
          <a:p>
            <a:pPr marL="0" indent="0">
              <a:buNone/>
            </a:pPr>
            <a:r>
              <a:rPr lang="en-US" sz="1000" b="1" dirty="0">
                <a:solidFill>
                  <a:srgbClr val="9FB6E8"/>
                </a:solidFill>
                <a:latin typeface="Calibri" pitchFamily="34" charset="0"/>
                <a:ea typeface="Calibri" pitchFamily="34" charset="-122"/>
                <a:cs typeface="Calibri" pitchFamily="34" charset="-120"/>
              </a:rPr>
              <a:t>07</a:t>
            </a:r>
            <a:endParaRPr lang="en-US" sz="1000" dirty="0"/>
          </a:p>
        </p:txBody>
      </p:sp>
      <p:sp>
        <p:nvSpPr>
          <p:cNvPr id="42" name="Shape 28"/>
          <p:cNvSpPr/>
          <p:nvPr/>
        </p:nvSpPr>
        <p:spPr>
          <a:xfrm>
            <a:off x="10620691" y="2950083"/>
            <a:ext cx="475488" cy="475488"/>
          </a:xfrm>
          <a:prstGeom prst="ellipse">
            <a:avLst/>
          </a:prstGeom>
          <a:solidFill>
            <a:srgbClr val="2C4487"/>
          </a:solidFill>
          <a:ln/>
        </p:spPr>
        <p:txBody>
          <a:bodyPr/>
          <a:lstStyle/>
          <a:p>
            <a:endParaRPr lang="en-IN"/>
          </a:p>
        </p:txBody>
      </p:sp>
      <p:pic>
        <p:nvPicPr>
          <p:cNvPr id="43" name="Image 12" descr="/home/claude/edi_mse/icons/gauge_w.png"/>
          <p:cNvPicPr>
            <a:picLocks noChangeAspect="1"/>
          </p:cNvPicPr>
          <p:nvPr/>
        </p:nvPicPr>
        <p:blipFill>
          <a:blip r:embed="rId10"/>
          <a:stretch>
            <a:fillRect/>
          </a:stretch>
        </p:blipFill>
        <p:spPr>
          <a:xfrm>
            <a:off x="10725298" y="3054690"/>
            <a:ext cx="266273" cy="266273"/>
          </a:xfrm>
          <a:prstGeom prst="rect">
            <a:avLst/>
          </a:prstGeom>
        </p:spPr>
      </p:pic>
      <p:sp>
        <p:nvSpPr>
          <p:cNvPr id="44" name="Text 29"/>
          <p:cNvSpPr/>
          <p:nvPr/>
        </p:nvSpPr>
        <p:spPr>
          <a:xfrm>
            <a:off x="10165254" y="3498723"/>
            <a:ext cx="1386361" cy="502920"/>
          </a:xfrm>
          <a:prstGeom prst="rect">
            <a:avLst/>
          </a:prstGeom>
          <a:noFill/>
          <a:ln/>
        </p:spPr>
        <p:txBody>
          <a:bodyPr wrap="square"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Dashboard</a:t>
            </a:r>
            <a:endParaRPr lang="en-US" sz="1050" dirty="0"/>
          </a:p>
        </p:txBody>
      </p:sp>
      <p:sp>
        <p:nvSpPr>
          <p:cNvPr id="45" name="Shape 30"/>
          <p:cNvSpPr/>
          <p:nvPr/>
        </p:nvSpPr>
        <p:spPr>
          <a:xfrm>
            <a:off x="640080" y="4577715"/>
            <a:ext cx="10911535" cy="1417320"/>
          </a:xfrm>
          <a:prstGeom prst="roundRect">
            <a:avLst>
              <a:gd name="adj" fmla="val 5161"/>
            </a:avLst>
          </a:prstGeom>
          <a:solidFill>
            <a:srgbClr val="FBFBFC"/>
          </a:solidFill>
          <a:ln w="12700">
            <a:solidFill>
              <a:srgbClr val="DADFE8"/>
            </a:solidFill>
            <a:prstDash val="solid"/>
          </a:ln>
        </p:spPr>
        <p:txBody>
          <a:bodyPr/>
          <a:lstStyle/>
          <a:p>
            <a:endParaRPr lang="en-IN"/>
          </a:p>
        </p:txBody>
      </p:sp>
      <p:sp>
        <p:nvSpPr>
          <p:cNvPr id="46" name="Text 31"/>
          <p:cNvSpPr/>
          <p:nvPr/>
        </p:nvSpPr>
        <p:spPr>
          <a:xfrm>
            <a:off x="868680" y="4742307"/>
            <a:ext cx="3657600" cy="274320"/>
          </a:xfrm>
          <a:prstGeom prst="rect">
            <a:avLst/>
          </a:prstGeom>
          <a:noFill/>
          <a:ln/>
        </p:spPr>
        <p:txBody>
          <a:bodyPr wrap="square" rtlCol="0" anchor="ctr"/>
          <a:lstStyle/>
          <a:p>
            <a:pPr marL="0" indent="0">
              <a:buNone/>
            </a:pPr>
            <a:r>
              <a:rPr lang="en-US" sz="1200" b="1" kern="0" spc="150" dirty="0">
                <a:solidFill>
                  <a:srgbClr val="5B5B5B"/>
                </a:solidFill>
                <a:latin typeface="Calibri" pitchFamily="34" charset="0"/>
                <a:ea typeface="Calibri" pitchFamily="34" charset="-122"/>
                <a:cs typeface="Calibri" pitchFamily="34" charset="-120"/>
              </a:rPr>
              <a:t>TECHNOLOGY STACK</a:t>
            </a:r>
            <a:endParaRPr lang="en-US" sz="1200" dirty="0"/>
          </a:p>
        </p:txBody>
      </p:sp>
      <p:sp>
        <p:nvSpPr>
          <p:cNvPr id="47" name="Shape 32"/>
          <p:cNvSpPr/>
          <p:nvPr/>
        </p:nvSpPr>
        <p:spPr>
          <a:xfrm>
            <a:off x="868680" y="5108067"/>
            <a:ext cx="1907987" cy="713232"/>
          </a:xfrm>
          <a:prstGeom prst="roundRect">
            <a:avLst>
              <a:gd name="adj" fmla="val 7692"/>
            </a:avLst>
          </a:prstGeom>
          <a:solidFill>
            <a:srgbClr val="FFFFFF"/>
          </a:solidFill>
          <a:ln w="12700">
            <a:solidFill>
              <a:srgbClr val="DADFE8"/>
            </a:solidFill>
            <a:prstDash val="solid"/>
          </a:ln>
        </p:spPr>
        <p:txBody>
          <a:bodyPr/>
          <a:lstStyle/>
          <a:p>
            <a:endParaRPr lang="en-IN"/>
          </a:p>
        </p:txBody>
      </p:sp>
      <p:sp>
        <p:nvSpPr>
          <p:cNvPr id="48" name="Text 33"/>
          <p:cNvSpPr/>
          <p:nvPr/>
        </p:nvSpPr>
        <p:spPr>
          <a:xfrm>
            <a:off x="868680" y="5181219"/>
            <a:ext cx="1907987" cy="274320"/>
          </a:xfrm>
          <a:prstGeom prst="rect">
            <a:avLst/>
          </a:prstGeom>
          <a:noFill/>
          <a:ln/>
        </p:spPr>
        <p:txBody>
          <a:bodyPr wrap="square" rtlCol="0" anchor="ctr"/>
          <a:lstStyle/>
          <a:p>
            <a:pPr marL="0" indent="0" algn="ctr">
              <a:buNone/>
            </a:pPr>
            <a:r>
              <a:rPr lang="en-US" sz="1250" b="1" dirty="0">
                <a:solidFill>
                  <a:srgbClr val="1E3A8A"/>
                </a:solidFill>
                <a:latin typeface="Calibri" pitchFamily="34" charset="0"/>
                <a:ea typeface="Calibri" pitchFamily="34" charset="-122"/>
                <a:cs typeface="Calibri" pitchFamily="34" charset="-120"/>
              </a:rPr>
              <a:t>STM32</a:t>
            </a:r>
            <a:endParaRPr lang="en-US" sz="1250" dirty="0"/>
          </a:p>
        </p:txBody>
      </p:sp>
      <p:sp>
        <p:nvSpPr>
          <p:cNvPr id="49" name="Text 34"/>
          <p:cNvSpPr/>
          <p:nvPr/>
        </p:nvSpPr>
        <p:spPr>
          <a:xfrm>
            <a:off x="868680" y="5464683"/>
            <a:ext cx="1907987" cy="292608"/>
          </a:xfrm>
          <a:prstGeom prst="rect">
            <a:avLst/>
          </a:prstGeom>
          <a:noFill/>
          <a:ln/>
        </p:spPr>
        <p:txBody>
          <a:bodyPr wrap="square" rtlCol="0" anchor="ctr"/>
          <a:lstStyle/>
          <a:p>
            <a:pPr marL="0" indent="0" algn="ctr">
              <a:buNone/>
            </a:pPr>
            <a:r>
              <a:rPr lang="en-US" sz="900" dirty="0">
                <a:solidFill>
                  <a:srgbClr val="5B5B5B"/>
                </a:solidFill>
                <a:latin typeface="Calibri" pitchFamily="34" charset="0"/>
                <a:ea typeface="Calibri" pitchFamily="34" charset="-122"/>
                <a:cs typeface="Calibri" pitchFamily="34" charset="-120"/>
              </a:rPr>
              <a:t>Edge microcontroller</a:t>
            </a:r>
            <a:endParaRPr lang="en-US" sz="900" dirty="0"/>
          </a:p>
        </p:txBody>
      </p:sp>
      <p:sp>
        <p:nvSpPr>
          <p:cNvPr id="50" name="Shape 35"/>
          <p:cNvSpPr/>
          <p:nvPr/>
        </p:nvSpPr>
        <p:spPr>
          <a:xfrm>
            <a:off x="2959547" y="5108067"/>
            <a:ext cx="1907987" cy="713232"/>
          </a:xfrm>
          <a:prstGeom prst="roundRect">
            <a:avLst>
              <a:gd name="adj" fmla="val 7692"/>
            </a:avLst>
          </a:prstGeom>
          <a:solidFill>
            <a:srgbClr val="FFFFFF"/>
          </a:solidFill>
          <a:ln w="12700">
            <a:solidFill>
              <a:srgbClr val="DADFE8"/>
            </a:solidFill>
            <a:prstDash val="solid"/>
          </a:ln>
        </p:spPr>
        <p:txBody>
          <a:bodyPr/>
          <a:lstStyle/>
          <a:p>
            <a:endParaRPr lang="en-IN"/>
          </a:p>
        </p:txBody>
      </p:sp>
      <p:sp>
        <p:nvSpPr>
          <p:cNvPr id="51" name="Text 36"/>
          <p:cNvSpPr/>
          <p:nvPr/>
        </p:nvSpPr>
        <p:spPr>
          <a:xfrm>
            <a:off x="2959547" y="5181219"/>
            <a:ext cx="1907987" cy="274320"/>
          </a:xfrm>
          <a:prstGeom prst="rect">
            <a:avLst/>
          </a:prstGeom>
          <a:noFill/>
          <a:ln/>
        </p:spPr>
        <p:txBody>
          <a:bodyPr wrap="square" rtlCol="0" anchor="ctr"/>
          <a:lstStyle/>
          <a:p>
            <a:pPr marL="0" indent="0" algn="ctr">
              <a:buNone/>
            </a:pPr>
            <a:r>
              <a:rPr lang="en-US" sz="1250" b="1" dirty="0">
                <a:solidFill>
                  <a:srgbClr val="1E3A8A"/>
                </a:solidFill>
                <a:latin typeface="Calibri" pitchFamily="34" charset="0"/>
                <a:ea typeface="Calibri" pitchFamily="34" charset="-122"/>
                <a:cs typeface="Calibri" pitchFamily="34" charset="-120"/>
              </a:rPr>
              <a:t>MPU6050</a:t>
            </a:r>
            <a:endParaRPr lang="en-US" sz="1250" dirty="0"/>
          </a:p>
        </p:txBody>
      </p:sp>
      <p:sp>
        <p:nvSpPr>
          <p:cNvPr id="52" name="Text 37"/>
          <p:cNvSpPr/>
          <p:nvPr/>
        </p:nvSpPr>
        <p:spPr>
          <a:xfrm>
            <a:off x="2959547" y="5464683"/>
            <a:ext cx="1907987" cy="292608"/>
          </a:xfrm>
          <a:prstGeom prst="rect">
            <a:avLst/>
          </a:prstGeom>
          <a:noFill/>
          <a:ln/>
        </p:spPr>
        <p:txBody>
          <a:bodyPr wrap="square" rtlCol="0" anchor="ctr"/>
          <a:lstStyle/>
          <a:p>
            <a:pPr marL="0" indent="0" algn="ctr">
              <a:buNone/>
            </a:pPr>
            <a:r>
              <a:rPr lang="en-US" sz="900" dirty="0">
                <a:solidFill>
                  <a:srgbClr val="5B5B5B"/>
                </a:solidFill>
                <a:latin typeface="Calibri" pitchFamily="34" charset="0"/>
                <a:ea typeface="Calibri" pitchFamily="34" charset="-122"/>
                <a:cs typeface="Calibri" pitchFamily="34" charset="-120"/>
              </a:rPr>
              <a:t>Accelerometer / gyro</a:t>
            </a:r>
            <a:endParaRPr lang="en-US" sz="900" dirty="0"/>
          </a:p>
        </p:txBody>
      </p:sp>
      <p:sp>
        <p:nvSpPr>
          <p:cNvPr id="53" name="Shape 38"/>
          <p:cNvSpPr/>
          <p:nvPr/>
        </p:nvSpPr>
        <p:spPr>
          <a:xfrm>
            <a:off x="5050414" y="5108067"/>
            <a:ext cx="1907987" cy="713232"/>
          </a:xfrm>
          <a:prstGeom prst="roundRect">
            <a:avLst>
              <a:gd name="adj" fmla="val 7692"/>
            </a:avLst>
          </a:prstGeom>
          <a:solidFill>
            <a:srgbClr val="FFFFFF"/>
          </a:solidFill>
          <a:ln w="12700">
            <a:solidFill>
              <a:srgbClr val="DADFE8"/>
            </a:solidFill>
            <a:prstDash val="solid"/>
          </a:ln>
        </p:spPr>
        <p:txBody>
          <a:bodyPr/>
          <a:lstStyle/>
          <a:p>
            <a:endParaRPr lang="en-IN"/>
          </a:p>
        </p:txBody>
      </p:sp>
      <p:sp>
        <p:nvSpPr>
          <p:cNvPr id="54" name="Text 39"/>
          <p:cNvSpPr/>
          <p:nvPr/>
        </p:nvSpPr>
        <p:spPr>
          <a:xfrm>
            <a:off x="5050414" y="5181219"/>
            <a:ext cx="1907987" cy="274320"/>
          </a:xfrm>
          <a:prstGeom prst="rect">
            <a:avLst/>
          </a:prstGeom>
          <a:noFill/>
          <a:ln/>
        </p:spPr>
        <p:txBody>
          <a:bodyPr wrap="square" rtlCol="0" anchor="ctr"/>
          <a:lstStyle/>
          <a:p>
            <a:pPr marL="0" indent="0" algn="ctr">
              <a:buNone/>
            </a:pPr>
            <a:r>
              <a:rPr lang="en-US" sz="1250" b="1" dirty="0">
                <a:solidFill>
                  <a:srgbClr val="1E3A8A"/>
                </a:solidFill>
                <a:latin typeface="Calibri" pitchFamily="34" charset="0"/>
                <a:ea typeface="Calibri" pitchFamily="34" charset="-122"/>
                <a:cs typeface="Calibri" pitchFamily="34" charset="-120"/>
              </a:rPr>
              <a:t>Python</a:t>
            </a:r>
            <a:endParaRPr lang="en-US" sz="1250" dirty="0"/>
          </a:p>
        </p:txBody>
      </p:sp>
      <p:sp>
        <p:nvSpPr>
          <p:cNvPr id="55" name="Text 40"/>
          <p:cNvSpPr/>
          <p:nvPr/>
        </p:nvSpPr>
        <p:spPr>
          <a:xfrm>
            <a:off x="5050414" y="5464683"/>
            <a:ext cx="1907987" cy="292608"/>
          </a:xfrm>
          <a:prstGeom prst="rect">
            <a:avLst/>
          </a:prstGeom>
          <a:noFill/>
          <a:ln/>
        </p:spPr>
        <p:txBody>
          <a:bodyPr wrap="square" rtlCol="0" anchor="ctr"/>
          <a:lstStyle/>
          <a:p>
            <a:pPr marL="0" indent="0" algn="ctr">
              <a:buNone/>
            </a:pPr>
            <a:r>
              <a:rPr lang="en-US" sz="900" dirty="0">
                <a:solidFill>
                  <a:srgbClr val="5B5B5B"/>
                </a:solidFill>
                <a:latin typeface="Calibri" pitchFamily="34" charset="0"/>
                <a:ea typeface="Calibri" pitchFamily="34" charset="-122"/>
                <a:cs typeface="Calibri" pitchFamily="34" charset="-120"/>
              </a:rPr>
              <a:t>Model training</a:t>
            </a:r>
            <a:endParaRPr lang="en-US" sz="900" dirty="0"/>
          </a:p>
        </p:txBody>
      </p:sp>
      <p:sp>
        <p:nvSpPr>
          <p:cNvPr id="56" name="Shape 41"/>
          <p:cNvSpPr/>
          <p:nvPr/>
        </p:nvSpPr>
        <p:spPr>
          <a:xfrm>
            <a:off x="7141281" y="5108067"/>
            <a:ext cx="1907987" cy="713232"/>
          </a:xfrm>
          <a:prstGeom prst="roundRect">
            <a:avLst>
              <a:gd name="adj" fmla="val 7692"/>
            </a:avLst>
          </a:prstGeom>
          <a:solidFill>
            <a:srgbClr val="FFFFFF"/>
          </a:solidFill>
          <a:ln w="12700">
            <a:solidFill>
              <a:srgbClr val="DADFE8"/>
            </a:solidFill>
            <a:prstDash val="solid"/>
          </a:ln>
        </p:spPr>
        <p:txBody>
          <a:bodyPr/>
          <a:lstStyle/>
          <a:p>
            <a:endParaRPr lang="en-IN"/>
          </a:p>
        </p:txBody>
      </p:sp>
      <p:sp>
        <p:nvSpPr>
          <p:cNvPr id="57" name="Text 42"/>
          <p:cNvSpPr/>
          <p:nvPr/>
        </p:nvSpPr>
        <p:spPr>
          <a:xfrm>
            <a:off x="7141281" y="5181219"/>
            <a:ext cx="1907987" cy="274320"/>
          </a:xfrm>
          <a:prstGeom prst="rect">
            <a:avLst/>
          </a:prstGeom>
          <a:noFill/>
          <a:ln/>
        </p:spPr>
        <p:txBody>
          <a:bodyPr wrap="square" rtlCol="0" anchor="ctr"/>
          <a:lstStyle/>
          <a:p>
            <a:pPr marL="0" indent="0" algn="ctr">
              <a:buNone/>
            </a:pPr>
            <a:r>
              <a:rPr lang="en-US" sz="1250" b="1" dirty="0">
                <a:solidFill>
                  <a:srgbClr val="1E3A8A"/>
                </a:solidFill>
                <a:latin typeface="Calibri" pitchFamily="34" charset="0"/>
                <a:ea typeface="Calibri" pitchFamily="34" charset="-122"/>
                <a:cs typeface="Calibri" pitchFamily="34" charset="-120"/>
              </a:rPr>
              <a:t>TensorFlow</a:t>
            </a:r>
            <a:endParaRPr lang="en-US" sz="1250" dirty="0"/>
          </a:p>
        </p:txBody>
      </p:sp>
      <p:sp>
        <p:nvSpPr>
          <p:cNvPr id="58" name="Text 43"/>
          <p:cNvSpPr/>
          <p:nvPr/>
        </p:nvSpPr>
        <p:spPr>
          <a:xfrm>
            <a:off x="7141281" y="5464683"/>
            <a:ext cx="1907987" cy="292608"/>
          </a:xfrm>
          <a:prstGeom prst="rect">
            <a:avLst/>
          </a:prstGeom>
          <a:noFill/>
          <a:ln/>
        </p:spPr>
        <p:txBody>
          <a:bodyPr wrap="square" rtlCol="0" anchor="ctr"/>
          <a:lstStyle/>
          <a:p>
            <a:pPr marL="0" indent="0" algn="ctr">
              <a:buNone/>
            </a:pPr>
            <a:r>
              <a:rPr lang="en-US" sz="900" dirty="0">
                <a:solidFill>
                  <a:srgbClr val="5B5B5B"/>
                </a:solidFill>
                <a:latin typeface="Calibri" pitchFamily="34" charset="0"/>
                <a:ea typeface="Calibri" pitchFamily="34" charset="-122"/>
                <a:cs typeface="Calibri" pitchFamily="34" charset="-120"/>
              </a:rPr>
              <a:t>ML framework</a:t>
            </a:r>
            <a:endParaRPr lang="en-US" sz="900" dirty="0"/>
          </a:p>
        </p:txBody>
      </p:sp>
      <p:sp>
        <p:nvSpPr>
          <p:cNvPr id="59" name="Shape 44"/>
          <p:cNvSpPr/>
          <p:nvPr/>
        </p:nvSpPr>
        <p:spPr>
          <a:xfrm>
            <a:off x="9232148" y="5108067"/>
            <a:ext cx="1907987" cy="713232"/>
          </a:xfrm>
          <a:prstGeom prst="roundRect">
            <a:avLst>
              <a:gd name="adj" fmla="val 7692"/>
            </a:avLst>
          </a:prstGeom>
          <a:solidFill>
            <a:srgbClr val="FFFFFF"/>
          </a:solidFill>
          <a:ln w="12700">
            <a:solidFill>
              <a:srgbClr val="DADFE8"/>
            </a:solidFill>
            <a:prstDash val="solid"/>
          </a:ln>
        </p:spPr>
        <p:txBody>
          <a:bodyPr/>
          <a:lstStyle/>
          <a:p>
            <a:endParaRPr lang="en-IN"/>
          </a:p>
        </p:txBody>
      </p:sp>
      <p:sp>
        <p:nvSpPr>
          <p:cNvPr id="60" name="Text 45"/>
          <p:cNvSpPr/>
          <p:nvPr/>
        </p:nvSpPr>
        <p:spPr>
          <a:xfrm>
            <a:off x="9232148" y="5181219"/>
            <a:ext cx="1907987" cy="274320"/>
          </a:xfrm>
          <a:prstGeom prst="rect">
            <a:avLst/>
          </a:prstGeom>
          <a:noFill/>
          <a:ln/>
        </p:spPr>
        <p:txBody>
          <a:bodyPr wrap="square" rtlCol="0" anchor="ctr"/>
          <a:lstStyle/>
          <a:p>
            <a:pPr marL="0" indent="0" algn="ctr">
              <a:buNone/>
            </a:pPr>
            <a:r>
              <a:rPr lang="en-US" sz="1250" b="1" dirty="0">
                <a:solidFill>
                  <a:srgbClr val="1E3A8A"/>
                </a:solidFill>
                <a:latin typeface="Calibri" pitchFamily="34" charset="0"/>
                <a:ea typeface="Calibri" pitchFamily="34" charset="-122"/>
                <a:cs typeface="Calibri" pitchFamily="34" charset="-120"/>
              </a:rPr>
              <a:t>Streamlit</a:t>
            </a:r>
            <a:endParaRPr lang="en-US" sz="1250" dirty="0"/>
          </a:p>
        </p:txBody>
      </p:sp>
      <p:sp>
        <p:nvSpPr>
          <p:cNvPr id="61" name="Text 46"/>
          <p:cNvSpPr/>
          <p:nvPr/>
        </p:nvSpPr>
        <p:spPr>
          <a:xfrm>
            <a:off x="9232148" y="5464683"/>
            <a:ext cx="1907987" cy="292608"/>
          </a:xfrm>
          <a:prstGeom prst="rect">
            <a:avLst/>
          </a:prstGeom>
          <a:noFill/>
          <a:ln/>
        </p:spPr>
        <p:txBody>
          <a:bodyPr wrap="square" rtlCol="0" anchor="ctr"/>
          <a:lstStyle/>
          <a:p>
            <a:pPr marL="0" indent="0" algn="ctr">
              <a:buNone/>
            </a:pPr>
            <a:r>
              <a:rPr lang="en-US" sz="900" dirty="0">
                <a:solidFill>
                  <a:srgbClr val="5B5B5B"/>
                </a:solidFill>
                <a:latin typeface="Calibri" pitchFamily="34" charset="0"/>
                <a:ea typeface="Calibri" pitchFamily="34" charset="-122"/>
                <a:cs typeface="Calibri" pitchFamily="34" charset="-120"/>
              </a:rPr>
              <a:t>Dashboard UI</a:t>
            </a:r>
            <a:endParaRPr lang="en-US" sz="900" dirty="0"/>
          </a:p>
        </p:txBody>
      </p:sp>
      <p:sp>
        <p:nvSpPr>
          <p:cNvPr id="62" name="Text 47"/>
          <p:cNvSpPr/>
          <p:nvPr/>
        </p:nvSpPr>
        <p:spPr>
          <a:xfrm>
            <a:off x="640080" y="6177915"/>
            <a:ext cx="10911535" cy="320040"/>
          </a:xfrm>
          <a:prstGeom prst="rect">
            <a:avLst/>
          </a:prstGeom>
          <a:noFill/>
          <a:ln/>
        </p:spPr>
        <p:txBody>
          <a:bodyPr wrap="square" rtlCol="0" anchor="ctr"/>
          <a:lstStyle/>
          <a:p>
            <a:pPr marL="0" indent="0">
              <a:buNone/>
            </a:pPr>
            <a:r>
              <a:rPr lang="en-US" sz="1100" i="1" dirty="0">
                <a:solidFill>
                  <a:srgbClr val="5B5B5B"/>
                </a:solidFill>
                <a:latin typeface="Calibri" pitchFamily="34" charset="0"/>
                <a:ea typeface="Calibri" pitchFamily="34" charset="-122"/>
                <a:cs typeface="Calibri" pitchFamily="34" charset="-120"/>
              </a:rPr>
              <a:t>Field deployment plan: sensor node on rail web → wireless/logged transfer → cloud or local inference → live dashboard.</a:t>
            </a:r>
            <a:endParaRPr lang="en-US" sz="1100" dirty="0"/>
          </a:p>
        </p:txBody>
      </p:sp>
      <p:sp>
        <p:nvSpPr>
          <p:cNvPr id="64" name="Text 48"/>
          <p:cNvSpPr/>
          <p:nvPr/>
        </p:nvSpPr>
        <p:spPr>
          <a:xfrm>
            <a:off x="11551615" y="7531227"/>
            <a:ext cx="457200" cy="274320"/>
          </a:xfrm>
          <a:prstGeom prst="rect">
            <a:avLst/>
          </a:prstGeom>
          <a:noFill/>
          <a:ln/>
        </p:spPr>
        <p:txBody>
          <a:bodyPr wrap="square" rtlCol="0" anchor="ctr"/>
          <a:lstStyle/>
          <a:p>
            <a:pPr marL="0" indent="0" algn="r">
              <a:buNone/>
            </a:pPr>
            <a:r>
              <a:rPr lang="en-US" sz="900" dirty="0">
                <a:solidFill>
                  <a:srgbClr val="5B5B5B"/>
                </a:solidFill>
                <a:latin typeface="Calibri" pitchFamily="34" charset="0"/>
                <a:ea typeface="Calibri" pitchFamily="34" charset="-122"/>
                <a:cs typeface="Calibri" pitchFamily="34" charset="-120"/>
              </a:rPr>
              <a:t>07</a:t>
            </a:r>
            <a:endParaRPr lang="en-US" sz="900" dirty="0"/>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51047" y="398145"/>
            <a:ext cx="5486400" cy="274320"/>
          </a:xfrm>
          <a:prstGeom prst="rect">
            <a:avLst/>
          </a:prstGeom>
          <a:noFill/>
          <a:ln/>
        </p:spPr>
        <p:txBody>
          <a:bodyPr wrap="square" rtlCol="0" anchor="ctr"/>
          <a:lstStyle/>
          <a:p>
            <a:pPr marL="0" indent="0" algn="ctr">
              <a:buNone/>
            </a:pPr>
            <a:r>
              <a:rPr lang="en-US" sz="2800" b="1" kern="0" spc="200" dirty="0">
                <a:solidFill>
                  <a:srgbClr val="1E3A8A"/>
                </a:solidFill>
                <a:latin typeface="Calibri" pitchFamily="34" charset="0"/>
                <a:ea typeface="Calibri" pitchFamily="34" charset="-122"/>
                <a:cs typeface="Calibri" pitchFamily="34" charset="-120"/>
              </a:rPr>
              <a:t>IMPLEMENTATION STATUS</a:t>
            </a:r>
            <a:endParaRPr lang="en-US" sz="2800" dirty="0"/>
          </a:p>
        </p:txBody>
      </p:sp>
      <p:sp>
        <p:nvSpPr>
          <p:cNvPr id="3" name="Text 1"/>
          <p:cNvSpPr/>
          <p:nvPr/>
        </p:nvSpPr>
        <p:spPr>
          <a:xfrm>
            <a:off x="640080" y="864870"/>
            <a:ext cx="7772400" cy="54864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Progress Dashboard</a:t>
            </a:r>
            <a:endParaRPr lang="en-US" sz="2800" dirty="0"/>
          </a:p>
        </p:txBody>
      </p:sp>
      <p:sp>
        <p:nvSpPr>
          <p:cNvPr id="4" name="Shape 2"/>
          <p:cNvSpPr/>
          <p:nvPr/>
        </p:nvSpPr>
        <p:spPr>
          <a:xfrm>
            <a:off x="777240" y="1916430"/>
            <a:ext cx="10637215" cy="0"/>
          </a:xfrm>
          <a:prstGeom prst="line">
            <a:avLst/>
          </a:prstGeom>
          <a:noFill/>
          <a:ln w="25400">
            <a:solidFill>
              <a:srgbClr val="DADFE8"/>
            </a:solidFill>
            <a:prstDash val="solid"/>
          </a:ln>
        </p:spPr>
        <p:txBody>
          <a:bodyPr/>
          <a:lstStyle/>
          <a:p>
            <a:endParaRPr lang="en-IN"/>
          </a:p>
        </p:txBody>
      </p:sp>
      <p:sp>
        <p:nvSpPr>
          <p:cNvPr id="5" name="Shape 3"/>
          <p:cNvSpPr/>
          <p:nvPr/>
        </p:nvSpPr>
        <p:spPr>
          <a:xfrm>
            <a:off x="694944" y="1834134"/>
            <a:ext cx="164592" cy="164592"/>
          </a:xfrm>
          <a:prstGeom prst="ellipse">
            <a:avLst/>
          </a:prstGeom>
          <a:solidFill>
            <a:srgbClr val="1E3A8A"/>
          </a:solidFill>
          <a:ln w="19050">
            <a:solidFill>
              <a:srgbClr val="FFFFFF"/>
            </a:solidFill>
            <a:prstDash val="solid"/>
          </a:ln>
        </p:spPr>
        <p:txBody>
          <a:bodyPr/>
          <a:lstStyle/>
          <a:p>
            <a:endParaRPr lang="en-IN"/>
          </a:p>
        </p:txBody>
      </p:sp>
      <p:sp>
        <p:nvSpPr>
          <p:cNvPr id="6" name="Text 4"/>
          <p:cNvSpPr/>
          <p:nvPr/>
        </p:nvSpPr>
        <p:spPr>
          <a:xfrm>
            <a:off x="274320" y="2062734"/>
            <a:ext cx="1005840" cy="502920"/>
          </a:xfrm>
          <a:prstGeom prst="rect">
            <a:avLst/>
          </a:prstGeom>
          <a:noFill/>
          <a:ln/>
        </p:spPr>
        <p:txBody>
          <a:bodyPr wrap="square" rtlCol="0" anchor="ctr"/>
          <a:lstStyle/>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Topic</a:t>
            </a:r>
            <a:endParaRPr lang="en-US" sz="850" dirty="0"/>
          </a:p>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Finalized</a:t>
            </a:r>
            <a:endParaRPr lang="en-US" sz="850" dirty="0"/>
          </a:p>
        </p:txBody>
      </p:sp>
      <p:sp>
        <p:nvSpPr>
          <p:cNvPr id="7" name="Shape 5"/>
          <p:cNvSpPr/>
          <p:nvPr/>
        </p:nvSpPr>
        <p:spPr>
          <a:xfrm>
            <a:off x="2024596" y="1834134"/>
            <a:ext cx="164592" cy="164592"/>
          </a:xfrm>
          <a:prstGeom prst="ellipse">
            <a:avLst/>
          </a:prstGeom>
          <a:solidFill>
            <a:srgbClr val="1E3A8A"/>
          </a:solidFill>
          <a:ln w="19050">
            <a:solidFill>
              <a:srgbClr val="FFFFFF"/>
            </a:solidFill>
            <a:prstDash val="solid"/>
          </a:ln>
        </p:spPr>
        <p:txBody>
          <a:bodyPr/>
          <a:lstStyle/>
          <a:p>
            <a:endParaRPr lang="en-IN"/>
          </a:p>
        </p:txBody>
      </p:sp>
      <p:sp>
        <p:nvSpPr>
          <p:cNvPr id="8" name="Text 6"/>
          <p:cNvSpPr/>
          <p:nvPr/>
        </p:nvSpPr>
        <p:spPr>
          <a:xfrm>
            <a:off x="1603972" y="2062734"/>
            <a:ext cx="1005840" cy="502920"/>
          </a:xfrm>
          <a:prstGeom prst="rect">
            <a:avLst/>
          </a:prstGeom>
          <a:noFill/>
          <a:ln/>
        </p:spPr>
        <p:txBody>
          <a:bodyPr wrap="square" rtlCol="0" anchor="ctr"/>
          <a:lstStyle/>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Literature</a:t>
            </a:r>
            <a:endParaRPr lang="en-US" sz="850" dirty="0"/>
          </a:p>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Review</a:t>
            </a:r>
            <a:endParaRPr lang="en-US" sz="850" dirty="0"/>
          </a:p>
        </p:txBody>
      </p:sp>
      <p:sp>
        <p:nvSpPr>
          <p:cNvPr id="9" name="Shape 7"/>
          <p:cNvSpPr/>
          <p:nvPr/>
        </p:nvSpPr>
        <p:spPr>
          <a:xfrm>
            <a:off x="3354248" y="1834134"/>
            <a:ext cx="164592" cy="164592"/>
          </a:xfrm>
          <a:prstGeom prst="ellipse">
            <a:avLst/>
          </a:prstGeom>
          <a:solidFill>
            <a:srgbClr val="1E3A8A"/>
          </a:solidFill>
          <a:ln w="19050">
            <a:solidFill>
              <a:srgbClr val="FFFFFF"/>
            </a:solidFill>
            <a:prstDash val="solid"/>
          </a:ln>
        </p:spPr>
        <p:txBody>
          <a:bodyPr/>
          <a:lstStyle/>
          <a:p>
            <a:endParaRPr lang="en-IN"/>
          </a:p>
        </p:txBody>
      </p:sp>
      <p:sp>
        <p:nvSpPr>
          <p:cNvPr id="10" name="Text 8"/>
          <p:cNvSpPr/>
          <p:nvPr/>
        </p:nvSpPr>
        <p:spPr>
          <a:xfrm>
            <a:off x="2933624" y="2062734"/>
            <a:ext cx="1005840" cy="502920"/>
          </a:xfrm>
          <a:prstGeom prst="rect">
            <a:avLst/>
          </a:prstGeom>
          <a:noFill/>
          <a:ln/>
        </p:spPr>
        <p:txBody>
          <a:bodyPr wrap="square" rtlCol="0" anchor="ctr"/>
          <a:lstStyle/>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Dataset</a:t>
            </a:r>
            <a:endParaRPr lang="en-US" sz="850" dirty="0"/>
          </a:p>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Research</a:t>
            </a:r>
            <a:endParaRPr lang="en-US" sz="850" dirty="0"/>
          </a:p>
        </p:txBody>
      </p:sp>
      <p:sp>
        <p:nvSpPr>
          <p:cNvPr id="11" name="Shape 9"/>
          <p:cNvSpPr/>
          <p:nvPr/>
        </p:nvSpPr>
        <p:spPr>
          <a:xfrm>
            <a:off x="4683900" y="1834134"/>
            <a:ext cx="164592" cy="164592"/>
          </a:xfrm>
          <a:prstGeom prst="ellipse">
            <a:avLst/>
          </a:prstGeom>
          <a:solidFill>
            <a:srgbClr val="1E3A8A"/>
          </a:solidFill>
          <a:ln w="19050">
            <a:solidFill>
              <a:srgbClr val="FFFFFF"/>
            </a:solidFill>
            <a:prstDash val="solid"/>
          </a:ln>
        </p:spPr>
        <p:txBody>
          <a:bodyPr/>
          <a:lstStyle/>
          <a:p>
            <a:endParaRPr lang="en-IN"/>
          </a:p>
        </p:txBody>
      </p:sp>
      <p:sp>
        <p:nvSpPr>
          <p:cNvPr id="12" name="Text 10"/>
          <p:cNvSpPr/>
          <p:nvPr/>
        </p:nvSpPr>
        <p:spPr>
          <a:xfrm>
            <a:off x="4263276" y="2062734"/>
            <a:ext cx="1005840" cy="502920"/>
          </a:xfrm>
          <a:prstGeom prst="rect">
            <a:avLst/>
          </a:prstGeom>
          <a:noFill/>
          <a:ln/>
        </p:spPr>
        <p:txBody>
          <a:bodyPr wrap="square" rtlCol="0" anchor="ctr"/>
          <a:lstStyle/>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Hardware</a:t>
            </a:r>
            <a:endParaRPr lang="en-US" sz="850" dirty="0"/>
          </a:p>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Selection</a:t>
            </a:r>
            <a:endParaRPr lang="en-US" sz="850" dirty="0"/>
          </a:p>
        </p:txBody>
      </p:sp>
      <p:sp>
        <p:nvSpPr>
          <p:cNvPr id="13" name="Shape 11"/>
          <p:cNvSpPr/>
          <p:nvPr/>
        </p:nvSpPr>
        <p:spPr>
          <a:xfrm>
            <a:off x="6013552" y="1834134"/>
            <a:ext cx="164592" cy="164592"/>
          </a:xfrm>
          <a:prstGeom prst="ellipse">
            <a:avLst/>
          </a:prstGeom>
          <a:solidFill>
            <a:srgbClr val="C9860E"/>
          </a:solidFill>
          <a:ln w="19050">
            <a:solidFill>
              <a:srgbClr val="FFFFFF"/>
            </a:solidFill>
            <a:prstDash val="solid"/>
          </a:ln>
        </p:spPr>
        <p:txBody>
          <a:bodyPr/>
          <a:lstStyle/>
          <a:p>
            <a:endParaRPr lang="en-IN"/>
          </a:p>
        </p:txBody>
      </p:sp>
      <p:sp>
        <p:nvSpPr>
          <p:cNvPr id="14" name="Text 12"/>
          <p:cNvSpPr/>
          <p:nvPr/>
        </p:nvSpPr>
        <p:spPr>
          <a:xfrm>
            <a:off x="5592928" y="2062734"/>
            <a:ext cx="1005840" cy="502920"/>
          </a:xfrm>
          <a:prstGeom prst="rect">
            <a:avLst/>
          </a:prstGeom>
          <a:noFill/>
          <a:ln/>
        </p:spPr>
        <p:txBody>
          <a:bodyPr wrap="square" rtlCol="0" anchor="ctr"/>
          <a:lstStyle/>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Dataset</a:t>
            </a:r>
            <a:endParaRPr lang="en-US" sz="850" dirty="0"/>
          </a:p>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Exploration</a:t>
            </a:r>
            <a:endParaRPr lang="en-US" sz="850" dirty="0"/>
          </a:p>
        </p:txBody>
      </p:sp>
      <p:sp>
        <p:nvSpPr>
          <p:cNvPr id="15" name="Shape 13"/>
          <p:cNvSpPr/>
          <p:nvPr/>
        </p:nvSpPr>
        <p:spPr>
          <a:xfrm>
            <a:off x="7343204" y="1834134"/>
            <a:ext cx="164592" cy="164592"/>
          </a:xfrm>
          <a:prstGeom prst="ellipse">
            <a:avLst/>
          </a:prstGeom>
          <a:solidFill>
            <a:srgbClr val="C9860E"/>
          </a:solidFill>
          <a:ln w="19050">
            <a:solidFill>
              <a:srgbClr val="FFFFFF"/>
            </a:solidFill>
            <a:prstDash val="solid"/>
          </a:ln>
        </p:spPr>
        <p:txBody>
          <a:bodyPr/>
          <a:lstStyle/>
          <a:p>
            <a:endParaRPr lang="en-IN"/>
          </a:p>
        </p:txBody>
      </p:sp>
      <p:sp>
        <p:nvSpPr>
          <p:cNvPr id="16" name="Text 14"/>
          <p:cNvSpPr/>
          <p:nvPr/>
        </p:nvSpPr>
        <p:spPr>
          <a:xfrm>
            <a:off x="6922580" y="2062734"/>
            <a:ext cx="1005840" cy="502920"/>
          </a:xfrm>
          <a:prstGeom prst="rect">
            <a:avLst/>
          </a:prstGeom>
          <a:noFill/>
          <a:ln/>
        </p:spPr>
        <p:txBody>
          <a:bodyPr wrap="square" rtlCol="0" anchor="ctr"/>
          <a:lstStyle/>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Signal</a:t>
            </a:r>
            <a:endParaRPr lang="en-US" sz="850" dirty="0"/>
          </a:p>
          <a:p>
            <a:pPr marL="0" indent="0" algn="ctr">
              <a:lnSpc>
                <a:spcPct val="100000"/>
              </a:lnSpc>
              <a:buNone/>
            </a:pPr>
            <a:r>
              <a:rPr lang="en-US" sz="850" dirty="0">
                <a:solidFill>
                  <a:srgbClr val="1A1A1A"/>
                </a:solidFill>
                <a:latin typeface="Calibri" pitchFamily="34" charset="0"/>
                <a:ea typeface="Calibri" pitchFamily="34" charset="-122"/>
                <a:cs typeface="Calibri" pitchFamily="34" charset="-120"/>
              </a:rPr>
              <a:t>Processing</a:t>
            </a:r>
            <a:endParaRPr lang="en-US" sz="850" dirty="0"/>
          </a:p>
        </p:txBody>
      </p:sp>
      <p:sp>
        <p:nvSpPr>
          <p:cNvPr id="17" name="Shape 15"/>
          <p:cNvSpPr/>
          <p:nvPr/>
        </p:nvSpPr>
        <p:spPr>
          <a:xfrm>
            <a:off x="8672855" y="1834134"/>
            <a:ext cx="164592" cy="164592"/>
          </a:xfrm>
          <a:prstGeom prst="ellipse">
            <a:avLst/>
          </a:prstGeom>
          <a:solidFill>
            <a:srgbClr val="DADFE8"/>
          </a:solidFill>
          <a:ln w="19050">
            <a:solidFill>
              <a:srgbClr val="FFFFFF"/>
            </a:solidFill>
            <a:prstDash val="solid"/>
          </a:ln>
        </p:spPr>
        <p:txBody>
          <a:bodyPr/>
          <a:lstStyle/>
          <a:p>
            <a:endParaRPr lang="en-IN"/>
          </a:p>
        </p:txBody>
      </p:sp>
      <p:sp>
        <p:nvSpPr>
          <p:cNvPr id="18" name="Text 16"/>
          <p:cNvSpPr/>
          <p:nvPr/>
        </p:nvSpPr>
        <p:spPr>
          <a:xfrm>
            <a:off x="8252231" y="2062734"/>
            <a:ext cx="1005840" cy="502920"/>
          </a:xfrm>
          <a:prstGeom prst="rect">
            <a:avLst/>
          </a:prstGeom>
          <a:noFill/>
          <a:ln/>
        </p:spPr>
        <p:txBody>
          <a:bodyPr wrap="square" rtlCol="0" anchor="ctr"/>
          <a:lstStyle/>
          <a:p>
            <a:pPr marL="0" indent="0" algn="ctr">
              <a:lnSpc>
                <a:spcPct val="100000"/>
              </a:lnSpc>
              <a:buNone/>
            </a:pPr>
            <a:r>
              <a:rPr lang="en-US" sz="850" dirty="0">
                <a:solidFill>
                  <a:srgbClr val="5B5B5B"/>
                </a:solidFill>
                <a:latin typeface="Calibri" pitchFamily="34" charset="0"/>
                <a:ea typeface="Calibri" pitchFamily="34" charset="-122"/>
                <a:cs typeface="Calibri" pitchFamily="34" charset="-120"/>
              </a:rPr>
              <a:t>AI</a:t>
            </a:r>
            <a:endParaRPr lang="en-US" sz="850" dirty="0"/>
          </a:p>
          <a:p>
            <a:pPr marL="0" indent="0" algn="ctr">
              <a:lnSpc>
                <a:spcPct val="100000"/>
              </a:lnSpc>
              <a:buNone/>
            </a:pPr>
            <a:r>
              <a:rPr lang="en-US" sz="850" dirty="0">
                <a:solidFill>
                  <a:srgbClr val="5B5B5B"/>
                </a:solidFill>
                <a:latin typeface="Calibri" pitchFamily="34" charset="0"/>
                <a:ea typeface="Calibri" pitchFamily="34" charset="-122"/>
                <a:cs typeface="Calibri" pitchFamily="34" charset="-120"/>
              </a:rPr>
              <a:t>Model</a:t>
            </a:r>
            <a:endParaRPr lang="en-US" sz="850" dirty="0"/>
          </a:p>
        </p:txBody>
      </p:sp>
      <p:sp>
        <p:nvSpPr>
          <p:cNvPr id="19" name="Shape 17"/>
          <p:cNvSpPr/>
          <p:nvPr/>
        </p:nvSpPr>
        <p:spPr>
          <a:xfrm>
            <a:off x="10002507" y="1834134"/>
            <a:ext cx="164592" cy="164592"/>
          </a:xfrm>
          <a:prstGeom prst="ellipse">
            <a:avLst/>
          </a:prstGeom>
          <a:solidFill>
            <a:srgbClr val="DADFE8"/>
          </a:solidFill>
          <a:ln w="19050">
            <a:solidFill>
              <a:srgbClr val="FFFFFF"/>
            </a:solidFill>
            <a:prstDash val="solid"/>
          </a:ln>
        </p:spPr>
        <p:txBody>
          <a:bodyPr/>
          <a:lstStyle/>
          <a:p>
            <a:endParaRPr lang="en-IN"/>
          </a:p>
        </p:txBody>
      </p:sp>
      <p:sp>
        <p:nvSpPr>
          <p:cNvPr id="20" name="Text 18"/>
          <p:cNvSpPr/>
          <p:nvPr/>
        </p:nvSpPr>
        <p:spPr>
          <a:xfrm>
            <a:off x="9581883" y="2062734"/>
            <a:ext cx="1005840" cy="502920"/>
          </a:xfrm>
          <a:prstGeom prst="rect">
            <a:avLst/>
          </a:prstGeom>
          <a:noFill/>
          <a:ln/>
        </p:spPr>
        <p:txBody>
          <a:bodyPr wrap="square" rtlCol="0" anchor="ctr"/>
          <a:lstStyle/>
          <a:p>
            <a:pPr marL="0" indent="0" algn="ctr">
              <a:lnSpc>
                <a:spcPct val="100000"/>
              </a:lnSpc>
              <a:buNone/>
            </a:pPr>
            <a:r>
              <a:rPr lang="en-US" sz="850" dirty="0">
                <a:solidFill>
                  <a:srgbClr val="5B5B5B"/>
                </a:solidFill>
                <a:latin typeface="Calibri" pitchFamily="34" charset="0"/>
                <a:ea typeface="Calibri" pitchFamily="34" charset="-122"/>
                <a:cs typeface="Calibri" pitchFamily="34" charset="-120"/>
              </a:rPr>
              <a:t>Prototype</a:t>
            </a:r>
            <a:endParaRPr lang="en-US" sz="850" dirty="0"/>
          </a:p>
        </p:txBody>
      </p:sp>
      <p:sp>
        <p:nvSpPr>
          <p:cNvPr id="21" name="Shape 19"/>
          <p:cNvSpPr/>
          <p:nvPr/>
        </p:nvSpPr>
        <p:spPr>
          <a:xfrm>
            <a:off x="11332159" y="1834134"/>
            <a:ext cx="164592" cy="164592"/>
          </a:xfrm>
          <a:prstGeom prst="ellipse">
            <a:avLst/>
          </a:prstGeom>
          <a:solidFill>
            <a:srgbClr val="DADFE8"/>
          </a:solidFill>
          <a:ln w="19050">
            <a:solidFill>
              <a:srgbClr val="FFFFFF"/>
            </a:solidFill>
            <a:prstDash val="solid"/>
          </a:ln>
        </p:spPr>
        <p:txBody>
          <a:bodyPr/>
          <a:lstStyle/>
          <a:p>
            <a:endParaRPr lang="en-IN"/>
          </a:p>
        </p:txBody>
      </p:sp>
      <p:sp>
        <p:nvSpPr>
          <p:cNvPr id="22" name="Text 20"/>
          <p:cNvSpPr/>
          <p:nvPr/>
        </p:nvSpPr>
        <p:spPr>
          <a:xfrm>
            <a:off x="10911535" y="2062734"/>
            <a:ext cx="1005840" cy="502920"/>
          </a:xfrm>
          <a:prstGeom prst="rect">
            <a:avLst/>
          </a:prstGeom>
          <a:noFill/>
          <a:ln/>
        </p:spPr>
        <p:txBody>
          <a:bodyPr wrap="square" rtlCol="0" anchor="ctr"/>
          <a:lstStyle/>
          <a:p>
            <a:pPr marL="0" indent="0" algn="ctr">
              <a:lnSpc>
                <a:spcPct val="100000"/>
              </a:lnSpc>
              <a:buNone/>
            </a:pPr>
            <a:r>
              <a:rPr lang="en-US" sz="850" dirty="0">
                <a:solidFill>
                  <a:srgbClr val="5B5B5B"/>
                </a:solidFill>
                <a:latin typeface="Calibri" pitchFamily="34" charset="0"/>
                <a:ea typeface="Calibri" pitchFamily="34" charset="-122"/>
                <a:cs typeface="Calibri" pitchFamily="34" charset="-120"/>
              </a:rPr>
              <a:t>Dashboard</a:t>
            </a:r>
            <a:endParaRPr lang="en-US" sz="850" dirty="0"/>
          </a:p>
        </p:txBody>
      </p:sp>
      <p:sp>
        <p:nvSpPr>
          <p:cNvPr id="23" name="Shape 21"/>
          <p:cNvSpPr/>
          <p:nvPr/>
        </p:nvSpPr>
        <p:spPr>
          <a:xfrm>
            <a:off x="777240" y="1916430"/>
            <a:ext cx="3988956" cy="0"/>
          </a:xfrm>
          <a:prstGeom prst="line">
            <a:avLst/>
          </a:prstGeom>
          <a:noFill/>
          <a:ln w="31750">
            <a:solidFill>
              <a:srgbClr val="1E3A8A"/>
            </a:solidFill>
            <a:prstDash val="solid"/>
          </a:ln>
        </p:spPr>
        <p:txBody>
          <a:bodyPr/>
          <a:lstStyle/>
          <a:p>
            <a:endParaRPr lang="en-IN"/>
          </a:p>
        </p:txBody>
      </p:sp>
      <p:sp>
        <p:nvSpPr>
          <p:cNvPr id="24" name="Shape 22"/>
          <p:cNvSpPr/>
          <p:nvPr/>
        </p:nvSpPr>
        <p:spPr>
          <a:xfrm>
            <a:off x="640080" y="2967990"/>
            <a:ext cx="3454298" cy="3566160"/>
          </a:xfrm>
          <a:prstGeom prst="roundRect">
            <a:avLst>
              <a:gd name="adj" fmla="val 2118"/>
            </a:avLst>
          </a:prstGeom>
          <a:solidFill>
            <a:srgbClr val="FBFBFC"/>
          </a:solidFill>
          <a:ln w="12700">
            <a:solidFill>
              <a:srgbClr val="DADFE8"/>
            </a:solidFill>
            <a:prstDash val="solid"/>
          </a:ln>
        </p:spPr>
        <p:txBody>
          <a:bodyPr/>
          <a:lstStyle/>
          <a:p>
            <a:endParaRPr lang="en-IN"/>
          </a:p>
        </p:txBody>
      </p:sp>
      <p:sp>
        <p:nvSpPr>
          <p:cNvPr id="25" name="Shape 23"/>
          <p:cNvSpPr/>
          <p:nvPr/>
        </p:nvSpPr>
        <p:spPr>
          <a:xfrm>
            <a:off x="640080" y="2967990"/>
            <a:ext cx="3454298" cy="566928"/>
          </a:xfrm>
          <a:prstGeom prst="rect">
            <a:avLst/>
          </a:prstGeom>
          <a:solidFill>
            <a:srgbClr val="1E3A8A"/>
          </a:solidFill>
          <a:ln/>
        </p:spPr>
        <p:txBody>
          <a:bodyPr/>
          <a:lstStyle/>
          <a:p>
            <a:endParaRPr lang="en-IN"/>
          </a:p>
        </p:txBody>
      </p:sp>
      <p:pic>
        <p:nvPicPr>
          <p:cNvPr id="26" name="Image 0" descr="/home/claude/edi_mse/icons/check_w.png"/>
          <p:cNvPicPr>
            <a:picLocks noChangeAspect="1"/>
          </p:cNvPicPr>
          <p:nvPr/>
        </p:nvPicPr>
        <p:blipFill>
          <a:blip r:embed="rId3"/>
          <a:stretch>
            <a:fillRect/>
          </a:stretch>
        </p:blipFill>
        <p:spPr>
          <a:xfrm>
            <a:off x="841248" y="3096006"/>
            <a:ext cx="310896" cy="310896"/>
          </a:xfrm>
          <a:prstGeom prst="rect">
            <a:avLst/>
          </a:prstGeom>
        </p:spPr>
      </p:pic>
      <p:sp>
        <p:nvSpPr>
          <p:cNvPr id="27" name="Text 24"/>
          <p:cNvSpPr/>
          <p:nvPr/>
        </p:nvSpPr>
        <p:spPr>
          <a:xfrm>
            <a:off x="1261872" y="2967990"/>
            <a:ext cx="2722778" cy="56692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Completed</a:t>
            </a:r>
            <a:endParaRPr lang="en-US" sz="1500" dirty="0"/>
          </a:p>
        </p:txBody>
      </p:sp>
      <p:sp>
        <p:nvSpPr>
          <p:cNvPr id="28" name="Shape 25"/>
          <p:cNvSpPr/>
          <p:nvPr/>
        </p:nvSpPr>
        <p:spPr>
          <a:xfrm>
            <a:off x="868680" y="3809238"/>
            <a:ext cx="73152" cy="73152"/>
          </a:xfrm>
          <a:prstGeom prst="ellipse">
            <a:avLst/>
          </a:prstGeom>
          <a:solidFill>
            <a:srgbClr val="1E3A8A"/>
          </a:solidFill>
          <a:ln/>
        </p:spPr>
        <p:txBody>
          <a:bodyPr/>
          <a:lstStyle/>
          <a:p>
            <a:endParaRPr lang="en-IN"/>
          </a:p>
        </p:txBody>
      </p:sp>
      <p:sp>
        <p:nvSpPr>
          <p:cNvPr id="29" name="Text 26"/>
          <p:cNvSpPr/>
          <p:nvPr/>
        </p:nvSpPr>
        <p:spPr>
          <a:xfrm>
            <a:off x="1078992" y="3672078"/>
            <a:ext cx="2768498" cy="457200"/>
          </a:xfrm>
          <a:prstGeom prst="rect">
            <a:avLst/>
          </a:prstGeom>
          <a:noFill/>
          <a:ln/>
        </p:spPr>
        <p:txBody>
          <a:bodyPr wrap="square" rtlCol="0" anchor="ctr"/>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Topic finalized</a:t>
            </a:r>
            <a:endParaRPr lang="en-US" sz="1150" dirty="0"/>
          </a:p>
        </p:txBody>
      </p:sp>
      <p:sp>
        <p:nvSpPr>
          <p:cNvPr id="30" name="Shape 27"/>
          <p:cNvSpPr/>
          <p:nvPr/>
        </p:nvSpPr>
        <p:spPr>
          <a:xfrm>
            <a:off x="868680" y="4284726"/>
            <a:ext cx="73152" cy="73152"/>
          </a:xfrm>
          <a:prstGeom prst="ellipse">
            <a:avLst/>
          </a:prstGeom>
          <a:solidFill>
            <a:srgbClr val="1E3A8A"/>
          </a:solidFill>
          <a:ln/>
        </p:spPr>
        <p:txBody>
          <a:bodyPr/>
          <a:lstStyle/>
          <a:p>
            <a:endParaRPr lang="en-IN"/>
          </a:p>
        </p:txBody>
      </p:sp>
      <p:sp>
        <p:nvSpPr>
          <p:cNvPr id="31" name="Text 28"/>
          <p:cNvSpPr/>
          <p:nvPr/>
        </p:nvSpPr>
        <p:spPr>
          <a:xfrm>
            <a:off x="1078992" y="4147566"/>
            <a:ext cx="2768498" cy="457200"/>
          </a:xfrm>
          <a:prstGeom prst="rect">
            <a:avLst/>
          </a:prstGeom>
          <a:noFill/>
          <a:ln/>
        </p:spPr>
        <p:txBody>
          <a:bodyPr wrap="square" rtlCol="0" anchor="ctr"/>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Literature review</a:t>
            </a:r>
            <a:endParaRPr lang="en-US" sz="1150" dirty="0"/>
          </a:p>
        </p:txBody>
      </p:sp>
      <p:sp>
        <p:nvSpPr>
          <p:cNvPr id="32" name="Shape 29"/>
          <p:cNvSpPr/>
          <p:nvPr/>
        </p:nvSpPr>
        <p:spPr>
          <a:xfrm>
            <a:off x="868680" y="4760214"/>
            <a:ext cx="73152" cy="73152"/>
          </a:xfrm>
          <a:prstGeom prst="ellipse">
            <a:avLst/>
          </a:prstGeom>
          <a:solidFill>
            <a:srgbClr val="1E3A8A"/>
          </a:solidFill>
          <a:ln/>
        </p:spPr>
        <p:txBody>
          <a:bodyPr/>
          <a:lstStyle/>
          <a:p>
            <a:endParaRPr lang="en-IN"/>
          </a:p>
        </p:txBody>
      </p:sp>
      <p:sp>
        <p:nvSpPr>
          <p:cNvPr id="33" name="Text 30"/>
          <p:cNvSpPr/>
          <p:nvPr/>
        </p:nvSpPr>
        <p:spPr>
          <a:xfrm>
            <a:off x="1078992" y="4623054"/>
            <a:ext cx="2768498" cy="457200"/>
          </a:xfrm>
          <a:prstGeom prst="rect">
            <a:avLst/>
          </a:prstGeom>
          <a:noFill/>
          <a:ln/>
        </p:spPr>
        <p:txBody>
          <a:bodyPr wrap="square" rtlCol="0" anchor="ctr"/>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Dataset research</a:t>
            </a:r>
            <a:endParaRPr lang="en-US" sz="1150" dirty="0"/>
          </a:p>
        </p:txBody>
      </p:sp>
      <p:sp>
        <p:nvSpPr>
          <p:cNvPr id="34" name="Shape 31"/>
          <p:cNvSpPr/>
          <p:nvPr/>
        </p:nvSpPr>
        <p:spPr>
          <a:xfrm>
            <a:off x="868680" y="5235702"/>
            <a:ext cx="73152" cy="73152"/>
          </a:xfrm>
          <a:prstGeom prst="ellipse">
            <a:avLst/>
          </a:prstGeom>
          <a:solidFill>
            <a:srgbClr val="1E3A8A"/>
          </a:solidFill>
          <a:ln/>
        </p:spPr>
        <p:txBody>
          <a:bodyPr/>
          <a:lstStyle/>
          <a:p>
            <a:endParaRPr lang="en-IN"/>
          </a:p>
        </p:txBody>
      </p:sp>
      <p:sp>
        <p:nvSpPr>
          <p:cNvPr id="35" name="Text 32"/>
          <p:cNvSpPr/>
          <p:nvPr/>
        </p:nvSpPr>
        <p:spPr>
          <a:xfrm>
            <a:off x="1078992" y="5098542"/>
            <a:ext cx="2768498" cy="457200"/>
          </a:xfrm>
          <a:prstGeom prst="rect">
            <a:avLst/>
          </a:prstGeom>
          <a:noFill/>
          <a:ln/>
        </p:spPr>
        <p:txBody>
          <a:bodyPr wrap="square" rtlCol="0" anchor="ctr"/>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Hardware selection</a:t>
            </a:r>
            <a:endParaRPr lang="en-US" sz="1150" dirty="0"/>
          </a:p>
        </p:txBody>
      </p:sp>
      <p:sp>
        <p:nvSpPr>
          <p:cNvPr id="36" name="Shape 33"/>
          <p:cNvSpPr/>
          <p:nvPr/>
        </p:nvSpPr>
        <p:spPr>
          <a:xfrm>
            <a:off x="4368698" y="2967990"/>
            <a:ext cx="3454298" cy="3566160"/>
          </a:xfrm>
          <a:prstGeom prst="roundRect">
            <a:avLst>
              <a:gd name="adj" fmla="val 2118"/>
            </a:avLst>
          </a:prstGeom>
          <a:solidFill>
            <a:srgbClr val="FBFBFC"/>
          </a:solidFill>
          <a:ln w="12700">
            <a:solidFill>
              <a:srgbClr val="DADFE8"/>
            </a:solidFill>
            <a:prstDash val="solid"/>
          </a:ln>
        </p:spPr>
        <p:txBody>
          <a:bodyPr/>
          <a:lstStyle/>
          <a:p>
            <a:endParaRPr lang="en-IN"/>
          </a:p>
        </p:txBody>
      </p:sp>
      <p:sp>
        <p:nvSpPr>
          <p:cNvPr id="37" name="Shape 34"/>
          <p:cNvSpPr/>
          <p:nvPr/>
        </p:nvSpPr>
        <p:spPr>
          <a:xfrm>
            <a:off x="4368698" y="2967990"/>
            <a:ext cx="3454298" cy="566928"/>
          </a:xfrm>
          <a:prstGeom prst="rect">
            <a:avLst/>
          </a:prstGeom>
          <a:solidFill>
            <a:srgbClr val="C9860E"/>
          </a:solidFill>
          <a:ln/>
        </p:spPr>
        <p:txBody>
          <a:bodyPr/>
          <a:lstStyle/>
          <a:p>
            <a:endParaRPr lang="en-IN"/>
          </a:p>
        </p:txBody>
      </p:sp>
      <p:pic>
        <p:nvPicPr>
          <p:cNvPr id="38" name="Image 1" descr="/home/claude/edi_mse/icons/spinner_w.png"/>
          <p:cNvPicPr>
            <a:picLocks noChangeAspect="1"/>
          </p:cNvPicPr>
          <p:nvPr/>
        </p:nvPicPr>
        <p:blipFill>
          <a:blip r:embed="rId4"/>
          <a:stretch>
            <a:fillRect/>
          </a:stretch>
        </p:blipFill>
        <p:spPr>
          <a:xfrm>
            <a:off x="4569866" y="3096006"/>
            <a:ext cx="310896" cy="310896"/>
          </a:xfrm>
          <a:prstGeom prst="rect">
            <a:avLst/>
          </a:prstGeom>
        </p:spPr>
      </p:pic>
      <p:sp>
        <p:nvSpPr>
          <p:cNvPr id="39" name="Text 35"/>
          <p:cNvSpPr/>
          <p:nvPr/>
        </p:nvSpPr>
        <p:spPr>
          <a:xfrm>
            <a:off x="4990490" y="2967990"/>
            <a:ext cx="2722778" cy="56692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 Progress</a:t>
            </a:r>
            <a:endParaRPr lang="en-US" sz="1500" dirty="0"/>
          </a:p>
        </p:txBody>
      </p:sp>
      <p:sp>
        <p:nvSpPr>
          <p:cNvPr id="40" name="Shape 36"/>
          <p:cNvSpPr/>
          <p:nvPr/>
        </p:nvSpPr>
        <p:spPr>
          <a:xfrm>
            <a:off x="4597298" y="3809238"/>
            <a:ext cx="73152" cy="73152"/>
          </a:xfrm>
          <a:prstGeom prst="ellipse">
            <a:avLst/>
          </a:prstGeom>
          <a:solidFill>
            <a:srgbClr val="C9860E"/>
          </a:solidFill>
          <a:ln/>
        </p:spPr>
        <p:txBody>
          <a:bodyPr/>
          <a:lstStyle/>
          <a:p>
            <a:endParaRPr lang="en-IN"/>
          </a:p>
        </p:txBody>
      </p:sp>
      <p:sp>
        <p:nvSpPr>
          <p:cNvPr id="41" name="Text 37"/>
          <p:cNvSpPr/>
          <p:nvPr/>
        </p:nvSpPr>
        <p:spPr>
          <a:xfrm>
            <a:off x="4807610" y="3672078"/>
            <a:ext cx="2768498" cy="457200"/>
          </a:xfrm>
          <a:prstGeom prst="rect">
            <a:avLst/>
          </a:prstGeom>
          <a:noFill/>
          <a:ln/>
        </p:spPr>
        <p:txBody>
          <a:bodyPr wrap="square" rtlCol="0" anchor="ctr"/>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Dataset exploration</a:t>
            </a:r>
            <a:endParaRPr lang="en-US" sz="1150" dirty="0"/>
          </a:p>
        </p:txBody>
      </p:sp>
      <p:sp>
        <p:nvSpPr>
          <p:cNvPr id="42" name="Shape 38"/>
          <p:cNvSpPr/>
          <p:nvPr/>
        </p:nvSpPr>
        <p:spPr>
          <a:xfrm>
            <a:off x="4597298" y="4284726"/>
            <a:ext cx="73152" cy="73152"/>
          </a:xfrm>
          <a:prstGeom prst="ellipse">
            <a:avLst/>
          </a:prstGeom>
          <a:solidFill>
            <a:srgbClr val="C9860E"/>
          </a:solidFill>
          <a:ln/>
        </p:spPr>
        <p:txBody>
          <a:bodyPr/>
          <a:lstStyle/>
          <a:p>
            <a:endParaRPr lang="en-IN"/>
          </a:p>
        </p:txBody>
      </p:sp>
      <p:sp>
        <p:nvSpPr>
          <p:cNvPr id="43" name="Text 39"/>
          <p:cNvSpPr/>
          <p:nvPr/>
        </p:nvSpPr>
        <p:spPr>
          <a:xfrm>
            <a:off x="4807610" y="4147566"/>
            <a:ext cx="2768498" cy="457200"/>
          </a:xfrm>
          <a:prstGeom prst="rect">
            <a:avLst/>
          </a:prstGeom>
          <a:noFill/>
          <a:ln/>
        </p:spPr>
        <p:txBody>
          <a:bodyPr wrap="square" rtlCol="0" anchor="ctr"/>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Signal processing</a:t>
            </a:r>
            <a:endParaRPr lang="en-US" sz="1150" dirty="0"/>
          </a:p>
        </p:txBody>
      </p:sp>
      <p:sp>
        <p:nvSpPr>
          <p:cNvPr id="44" name="Shape 40"/>
          <p:cNvSpPr/>
          <p:nvPr/>
        </p:nvSpPr>
        <p:spPr>
          <a:xfrm>
            <a:off x="8097317" y="2967990"/>
            <a:ext cx="3454298" cy="3566160"/>
          </a:xfrm>
          <a:prstGeom prst="roundRect">
            <a:avLst>
              <a:gd name="adj" fmla="val 2118"/>
            </a:avLst>
          </a:prstGeom>
          <a:solidFill>
            <a:srgbClr val="FBFBFC"/>
          </a:solidFill>
          <a:ln w="12700">
            <a:solidFill>
              <a:srgbClr val="DADFE8"/>
            </a:solidFill>
            <a:prstDash val="solid"/>
          </a:ln>
        </p:spPr>
        <p:txBody>
          <a:bodyPr/>
          <a:lstStyle/>
          <a:p>
            <a:endParaRPr lang="en-IN"/>
          </a:p>
        </p:txBody>
      </p:sp>
      <p:sp>
        <p:nvSpPr>
          <p:cNvPr id="45" name="Shape 41"/>
          <p:cNvSpPr/>
          <p:nvPr/>
        </p:nvSpPr>
        <p:spPr>
          <a:xfrm>
            <a:off x="8097317" y="2967990"/>
            <a:ext cx="3454298" cy="566928"/>
          </a:xfrm>
          <a:prstGeom prst="rect">
            <a:avLst/>
          </a:prstGeom>
          <a:solidFill>
            <a:srgbClr val="5B5B5B"/>
          </a:solidFill>
          <a:ln/>
        </p:spPr>
        <p:txBody>
          <a:bodyPr/>
          <a:lstStyle/>
          <a:p>
            <a:endParaRPr lang="en-IN"/>
          </a:p>
        </p:txBody>
      </p:sp>
      <p:pic>
        <p:nvPicPr>
          <p:cNvPr id="46" name="Image 2" descr="/home/claude/edi_mse/icons/hourglass_w.png"/>
          <p:cNvPicPr>
            <a:picLocks noChangeAspect="1"/>
          </p:cNvPicPr>
          <p:nvPr/>
        </p:nvPicPr>
        <p:blipFill>
          <a:blip r:embed="rId5"/>
          <a:stretch>
            <a:fillRect/>
          </a:stretch>
        </p:blipFill>
        <p:spPr>
          <a:xfrm>
            <a:off x="8298485" y="3096006"/>
            <a:ext cx="310896" cy="310896"/>
          </a:xfrm>
          <a:prstGeom prst="rect">
            <a:avLst/>
          </a:prstGeom>
        </p:spPr>
      </p:pic>
      <p:sp>
        <p:nvSpPr>
          <p:cNvPr id="47" name="Text 42"/>
          <p:cNvSpPr/>
          <p:nvPr/>
        </p:nvSpPr>
        <p:spPr>
          <a:xfrm>
            <a:off x="8719109" y="2967990"/>
            <a:ext cx="2722778" cy="56692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Upcoming</a:t>
            </a:r>
            <a:endParaRPr lang="en-US" sz="1500" dirty="0"/>
          </a:p>
        </p:txBody>
      </p:sp>
      <p:sp>
        <p:nvSpPr>
          <p:cNvPr id="48" name="Shape 43"/>
          <p:cNvSpPr/>
          <p:nvPr/>
        </p:nvSpPr>
        <p:spPr>
          <a:xfrm>
            <a:off x="8325917" y="3809238"/>
            <a:ext cx="73152" cy="73152"/>
          </a:xfrm>
          <a:prstGeom prst="ellipse">
            <a:avLst/>
          </a:prstGeom>
          <a:solidFill>
            <a:srgbClr val="5B5B5B"/>
          </a:solidFill>
          <a:ln/>
        </p:spPr>
        <p:txBody>
          <a:bodyPr/>
          <a:lstStyle/>
          <a:p>
            <a:endParaRPr lang="en-IN"/>
          </a:p>
        </p:txBody>
      </p:sp>
      <p:sp>
        <p:nvSpPr>
          <p:cNvPr id="49" name="Text 44"/>
          <p:cNvSpPr/>
          <p:nvPr/>
        </p:nvSpPr>
        <p:spPr>
          <a:xfrm>
            <a:off x="8536229" y="3672078"/>
            <a:ext cx="2768498" cy="457200"/>
          </a:xfrm>
          <a:prstGeom prst="rect">
            <a:avLst/>
          </a:prstGeom>
          <a:noFill/>
          <a:ln/>
        </p:spPr>
        <p:txBody>
          <a:bodyPr wrap="square" rtlCol="0" anchor="ctr"/>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AI model</a:t>
            </a:r>
            <a:endParaRPr lang="en-US" sz="1150" dirty="0"/>
          </a:p>
        </p:txBody>
      </p:sp>
      <p:sp>
        <p:nvSpPr>
          <p:cNvPr id="50" name="Shape 45"/>
          <p:cNvSpPr/>
          <p:nvPr/>
        </p:nvSpPr>
        <p:spPr>
          <a:xfrm>
            <a:off x="8325917" y="4284726"/>
            <a:ext cx="73152" cy="73152"/>
          </a:xfrm>
          <a:prstGeom prst="ellipse">
            <a:avLst/>
          </a:prstGeom>
          <a:solidFill>
            <a:srgbClr val="5B5B5B"/>
          </a:solidFill>
          <a:ln/>
        </p:spPr>
        <p:txBody>
          <a:bodyPr/>
          <a:lstStyle/>
          <a:p>
            <a:endParaRPr lang="en-IN"/>
          </a:p>
        </p:txBody>
      </p:sp>
      <p:sp>
        <p:nvSpPr>
          <p:cNvPr id="51" name="Text 46"/>
          <p:cNvSpPr/>
          <p:nvPr/>
        </p:nvSpPr>
        <p:spPr>
          <a:xfrm>
            <a:off x="8536229" y="4147566"/>
            <a:ext cx="2768498" cy="457200"/>
          </a:xfrm>
          <a:prstGeom prst="rect">
            <a:avLst/>
          </a:prstGeom>
          <a:noFill/>
          <a:ln/>
        </p:spPr>
        <p:txBody>
          <a:bodyPr wrap="square" rtlCol="0" anchor="ctr"/>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Prototype</a:t>
            </a:r>
            <a:endParaRPr lang="en-US" sz="1150" dirty="0"/>
          </a:p>
        </p:txBody>
      </p:sp>
      <p:sp>
        <p:nvSpPr>
          <p:cNvPr id="52" name="Shape 47"/>
          <p:cNvSpPr/>
          <p:nvPr/>
        </p:nvSpPr>
        <p:spPr>
          <a:xfrm>
            <a:off x="8325917" y="4760214"/>
            <a:ext cx="73152" cy="73152"/>
          </a:xfrm>
          <a:prstGeom prst="ellipse">
            <a:avLst/>
          </a:prstGeom>
          <a:solidFill>
            <a:srgbClr val="5B5B5B"/>
          </a:solidFill>
          <a:ln/>
        </p:spPr>
        <p:txBody>
          <a:bodyPr/>
          <a:lstStyle/>
          <a:p>
            <a:endParaRPr lang="en-IN"/>
          </a:p>
        </p:txBody>
      </p:sp>
      <p:sp>
        <p:nvSpPr>
          <p:cNvPr id="53" name="Text 48"/>
          <p:cNvSpPr/>
          <p:nvPr/>
        </p:nvSpPr>
        <p:spPr>
          <a:xfrm>
            <a:off x="8536229" y="4623054"/>
            <a:ext cx="2768498" cy="457200"/>
          </a:xfrm>
          <a:prstGeom prst="rect">
            <a:avLst/>
          </a:prstGeom>
          <a:noFill/>
          <a:ln/>
        </p:spPr>
        <p:txBody>
          <a:bodyPr wrap="square" rtlCol="0" anchor="ctr"/>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Dashboard</a:t>
            </a:r>
            <a:endParaRPr lang="en-US" sz="1150" dirty="0"/>
          </a:p>
        </p:txBody>
      </p:sp>
      <p:sp>
        <p:nvSpPr>
          <p:cNvPr id="55" name="Text 49"/>
          <p:cNvSpPr/>
          <p:nvPr/>
        </p:nvSpPr>
        <p:spPr>
          <a:xfrm>
            <a:off x="11551615" y="6835902"/>
            <a:ext cx="457200" cy="274320"/>
          </a:xfrm>
          <a:prstGeom prst="rect">
            <a:avLst/>
          </a:prstGeom>
          <a:noFill/>
          <a:ln/>
        </p:spPr>
        <p:txBody>
          <a:bodyPr wrap="square" rtlCol="0" anchor="ctr"/>
          <a:lstStyle/>
          <a:p>
            <a:pPr marL="0" indent="0" algn="r">
              <a:buNone/>
            </a:pPr>
            <a:r>
              <a:rPr lang="en-US" sz="900" dirty="0">
                <a:solidFill>
                  <a:srgbClr val="5B5B5B"/>
                </a:solidFill>
                <a:latin typeface="Calibri" pitchFamily="34" charset="0"/>
                <a:ea typeface="Calibri" pitchFamily="34" charset="-122"/>
                <a:cs typeface="Calibri" pitchFamily="34" charset="-120"/>
              </a:rPr>
              <a:t>08</a:t>
            </a:r>
            <a:endParaRPr lang="en-US" sz="900" dirty="0"/>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52800" y="584073"/>
            <a:ext cx="5486400" cy="274320"/>
          </a:xfrm>
          <a:prstGeom prst="rect">
            <a:avLst/>
          </a:prstGeom>
          <a:noFill/>
          <a:ln/>
        </p:spPr>
        <p:txBody>
          <a:bodyPr wrap="square" rtlCol="0" anchor="ctr"/>
          <a:lstStyle/>
          <a:p>
            <a:pPr marL="0" indent="0" algn="ctr">
              <a:buNone/>
            </a:pPr>
            <a:r>
              <a:rPr lang="en-US" sz="2800" b="1" kern="0" spc="200" dirty="0">
                <a:solidFill>
                  <a:srgbClr val="1E3A8A"/>
                </a:solidFill>
                <a:latin typeface="Calibri" pitchFamily="34" charset="0"/>
                <a:ea typeface="Calibri" pitchFamily="34" charset="-122"/>
                <a:cs typeface="Calibri" pitchFamily="34" charset="-120"/>
              </a:rPr>
              <a:t>REFERENCES</a:t>
            </a:r>
            <a:endParaRPr lang="en-US" sz="1200" dirty="0"/>
          </a:p>
        </p:txBody>
      </p:sp>
      <p:sp>
        <p:nvSpPr>
          <p:cNvPr id="3" name="Text 1"/>
          <p:cNvSpPr/>
          <p:nvPr/>
        </p:nvSpPr>
        <p:spPr>
          <a:xfrm>
            <a:off x="640080" y="1398270"/>
            <a:ext cx="7315200" cy="54864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IEEE-Style Citations</a:t>
            </a:r>
            <a:endParaRPr lang="en-US" sz="2800" dirty="0"/>
          </a:p>
        </p:txBody>
      </p:sp>
      <p:sp>
        <p:nvSpPr>
          <p:cNvPr id="4" name="Shape 2"/>
          <p:cNvSpPr/>
          <p:nvPr/>
        </p:nvSpPr>
        <p:spPr>
          <a:xfrm>
            <a:off x="10774375" y="1352550"/>
            <a:ext cx="658368" cy="658368"/>
          </a:xfrm>
          <a:prstGeom prst="ellipse">
            <a:avLst/>
          </a:prstGeom>
          <a:solidFill>
            <a:srgbClr val="EAF0FB"/>
          </a:solidFill>
          <a:ln/>
        </p:spPr>
        <p:txBody>
          <a:bodyPr/>
          <a:lstStyle/>
          <a:p>
            <a:endParaRPr lang="en-IN"/>
          </a:p>
        </p:txBody>
      </p:sp>
      <p:pic>
        <p:nvPicPr>
          <p:cNvPr id="5" name="Image 0" descr="/home/claude/edi_mse/icons/book.png"/>
          <p:cNvPicPr>
            <a:picLocks noChangeAspect="1"/>
          </p:cNvPicPr>
          <p:nvPr/>
        </p:nvPicPr>
        <p:blipFill>
          <a:blip r:embed="rId3"/>
          <a:stretch>
            <a:fillRect/>
          </a:stretch>
        </p:blipFill>
        <p:spPr>
          <a:xfrm>
            <a:off x="10922508" y="1500683"/>
            <a:ext cx="362102" cy="362102"/>
          </a:xfrm>
          <a:prstGeom prst="rect">
            <a:avLst/>
          </a:prstGeom>
        </p:spPr>
      </p:pic>
      <p:sp>
        <p:nvSpPr>
          <p:cNvPr id="6" name="Text 3"/>
          <p:cNvSpPr/>
          <p:nvPr/>
        </p:nvSpPr>
        <p:spPr>
          <a:xfrm>
            <a:off x="640080" y="2404110"/>
            <a:ext cx="457200" cy="548640"/>
          </a:xfrm>
          <a:prstGeom prst="rect">
            <a:avLst/>
          </a:prstGeom>
          <a:noFill/>
          <a:ln/>
        </p:spPr>
        <p:txBody>
          <a:bodyPr wrap="square" rtlCol="0" anchor="ctr"/>
          <a:lstStyle/>
          <a:p>
            <a:pPr marL="0" indent="0">
              <a:buNone/>
            </a:pPr>
            <a:r>
              <a:rPr lang="en-US" sz="1100" b="1" dirty="0">
                <a:solidFill>
                  <a:srgbClr val="1E3A8A"/>
                </a:solidFill>
                <a:latin typeface="Calibri" pitchFamily="34" charset="0"/>
                <a:ea typeface="Calibri" pitchFamily="34" charset="-122"/>
                <a:cs typeface="Calibri" pitchFamily="34" charset="-120"/>
              </a:rPr>
              <a:t>[1]</a:t>
            </a:r>
            <a:endParaRPr lang="en-US" sz="1100" dirty="0"/>
          </a:p>
        </p:txBody>
      </p:sp>
      <p:sp>
        <p:nvSpPr>
          <p:cNvPr id="7" name="Text 4"/>
          <p:cNvSpPr/>
          <p:nvPr/>
        </p:nvSpPr>
        <p:spPr>
          <a:xfrm>
            <a:off x="1097280" y="2404110"/>
            <a:ext cx="10454335" cy="548640"/>
          </a:xfrm>
          <a:prstGeom prst="rect">
            <a:avLst/>
          </a:prstGeom>
          <a:noFill/>
          <a:ln/>
        </p:spPr>
        <p:txBody>
          <a:bodyPr wrap="square" rtlCol="0" anchor="ctr"/>
          <a:lstStyle/>
          <a:p>
            <a:pPr marL="0" indent="0">
              <a:lnSpc>
                <a:spcPct val="112000"/>
              </a:lnSpc>
              <a:buNone/>
            </a:pPr>
            <a:r>
              <a:rPr lang="en-US" sz="1080" dirty="0">
                <a:solidFill>
                  <a:srgbClr val="1A1A1A"/>
                </a:solidFill>
                <a:latin typeface="Calibri" pitchFamily="34" charset="0"/>
                <a:ea typeface="Calibri" pitchFamily="34" charset="-122"/>
                <a:cs typeface="Calibri" pitchFamily="34" charset="-120"/>
              </a:rPr>
              <a:t>S. Ma, K. A. Flanigan, M. Bergés, and J. D. Brooks, "A multimodal railway vibration and vision dataset (Rail-VIVID)," Scientific Data, 2026, doi: 10.1038/s41597-026-07555-y.</a:t>
            </a:r>
            <a:endParaRPr lang="en-US" sz="1080" dirty="0"/>
          </a:p>
        </p:txBody>
      </p:sp>
      <p:sp>
        <p:nvSpPr>
          <p:cNvPr id="8" name="Text 5"/>
          <p:cNvSpPr/>
          <p:nvPr/>
        </p:nvSpPr>
        <p:spPr>
          <a:xfrm>
            <a:off x="640080" y="3117342"/>
            <a:ext cx="457200" cy="548640"/>
          </a:xfrm>
          <a:prstGeom prst="rect">
            <a:avLst/>
          </a:prstGeom>
          <a:noFill/>
          <a:ln/>
        </p:spPr>
        <p:txBody>
          <a:bodyPr wrap="square" rtlCol="0" anchor="ctr"/>
          <a:lstStyle/>
          <a:p>
            <a:pPr marL="0" indent="0">
              <a:buNone/>
            </a:pPr>
            <a:r>
              <a:rPr lang="en-US" sz="1100" b="1" dirty="0">
                <a:solidFill>
                  <a:srgbClr val="1E3A8A"/>
                </a:solidFill>
                <a:latin typeface="Calibri" pitchFamily="34" charset="0"/>
                <a:ea typeface="Calibri" pitchFamily="34" charset="-122"/>
                <a:cs typeface="Calibri" pitchFamily="34" charset="-120"/>
              </a:rPr>
              <a:t>[2]</a:t>
            </a:r>
            <a:endParaRPr lang="en-US" sz="1100" dirty="0"/>
          </a:p>
        </p:txBody>
      </p:sp>
      <p:sp>
        <p:nvSpPr>
          <p:cNvPr id="9" name="Text 6"/>
          <p:cNvSpPr/>
          <p:nvPr/>
        </p:nvSpPr>
        <p:spPr>
          <a:xfrm>
            <a:off x="1097280" y="3117342"/>
            <a:ext cx="10454335" cy="548640"/>
          </a:xfrm>
          <a:prstGeom prst="rect">
            <a:avLst/>
          </a:prstGeom>
          <a:noFill/>
          <a:ln/>
        </p:spPr>
        <p:txBody>
          <a:bodyPr wrap="square" rtlCol="0" anchor="ctr"/>
          <a:lstStyle/>
          <a:p>
            <a:pPr marL="0" indent="0">
              <a:lnSpc>
                <a:spcPct val="112000"/>
              </a:lnSpc>
              <a:buNone/>
            </a:pPr>
            <a:r>
              <a:rPr lang="en-US" sz="1080" dirty="0">
                <a:solidFill>
                  <a:srgbClr val="1A1A1A"/>
                </a:solidFill>
                <a:latin typeface="Calibri" pitchFamily="34" charset="0"/>
                <a:ea typeface="Calibri" pitchFamily="34" charset="-122"/>
                <a:cs typeface="Calibri" pitchFamily="34" charset="-120"/>
              </a:rPr>
              <a:t>J. Liu, S. Chen, G. Lederman, D. B. Kramer, H. Y. Noh, J. Bielak, J. H. Garrett Jr., J. Kovačević, and M. Bergés, "Dynamic responses, GPS positions and environmental conditions of two light rail vehicles in Pittsburgh," Scientific Data, vol. 6, art. 146, 2019, doi: 10.1038/s41597-019-0148-9.</a:t>
            </a:r>
            <a:endParaRPr lang="en-US" sz="1080" dirty="0"/>
          </a:p>
        </p:txBody>
      </p:sp>
      <p:sp>
        <p:nvSpPr>
          <p:cNvPr id="10" name="Text 7"/>
          <p:cNvSpPr/>
          <p:nvPr/>
        </p:nvSpPr>
        <p:spPr>
          <a:xfrm>
            <a:off x="640080" y="3830574"/>
            <a:ext cx="457200" cy="548640"/>
          </a:xfrm>
          <a:prstGeom prst="rect">
            <a:avLst/>
          </a:prstGeom>
          <a:noFill/>
          <a:ln/>
        </p:spPr>
        <p:txBody>
          <a:bodyPr wrap="square" rtlCol="0" anchor="ctr"/>
          <a:lstStyle/>
          <a:p>
            <a:pPr marL="0" indent="0">
              <a:buNone/>
            </a:pPr>
            <a:r>
              <a:rPr lang="en-US" sz="1100" b="1" dirty="0">
                <a:solidFill>
                  <a:srgbClr val="1E3A8A"/>
                </a:solidFill>
                <a:latin typeface="Calibri" pitchFamily="34" charset="0"/>
                <a:ea typeface="Calibri" pitchFamily="34" charset="-122"/>
                <a:cs typeface="Calibri" pitchFamily="34" charset="-120"/>
              </a:rPr>
              <a:t>[3]</a:t>
            </a:r>
            <a:endParaRPr lang="en-US" sz="1100" dirty="0"/>
          </a:p>
        </p:txBody>
      </p:sp>
      <p:sp>
        <p:nvSpPr>
          <p:cNvPr id="11" name="Text 8"/>
          <p:cNvSpPr/>
          <p:nvPr/>
        </p:nvSpPr>
        <p:spPr>
          <a:xfrm>
            <a:off x="1097280" y="3830574"/>
            <a:ext cx="10454335" cy="548640"/>
          </a:xfrm>
          <a:prstGeom prst="rect">
            <a:avLst/>
          </a:prstGeom>
          <a:noFill/>
          <a:ln/>
        </p:spPr>
        <p:txBody>
          <a:bodyPr wrap="square" rtlCol="0" anchor="ctr"/>
          <a:lstStyle/>
          <a:p>
            <a:pPr marL="0" indent="0">
              <a:lnSpc>
                <a:spcPct val="112000"/>
              </a:lnSpc>
              <a:buNone/>
            </a:pPr>
            <a:r>
              <a:rPr lang="en-US" sz="1080" dirty="0">
                <a:solidFill>
                  <a:srgbClr val="1A1A1A"/>
                </a:solidFill>
                <a:latin typeface="Calibri" pitchFamily="34" charset="0"/>
                <a:ea typeface="Calibri" pitchFamily="34" charset="-122"/>
                <a:cs typeface="Calibri" pitchFamily="34" charset="-120"/>
              </a:rPr>
              <a:t>W. Suwansin and P. Phasukkit, "Deep learning-based acoustic emission scheme for nondestructive localization of cracks in train rails under a load," Sensors, vol. 21, no. 1, p. 272, 2021, doi: 10.3390/s21010272.</a:t>
            </a:r>
            <a:endParaRPr lang="en-US" sz="1080" dirty="0"/>
          </a:p>
        </p:txBody>
      </p:sp>
      <p:sp>
        <p:nvSpPr>
          <p:cNvPr id="12" name="Text 9"/>
          <p:cNvSpPr/>
          <p:nvPr/>
        </p:nvSpPr>
        <p:spPr>
          <a:xfrm>
            <a:off x="640080" y="4543806"/>
            <a:ext cx="457200" cy="548640"/>
          </a:xfrm>
          <a:prstGeom prst="rect">
            <a:avLst/>
          </a:prstGeom>
          <a:noFill/>
          <a:ln/>
        </p:spPr>
        <p:txBody>
          <a:bodyPr wrap="square" rtlCol="0" anchor="ctr"/>
          <a:lstStyle/>
          <a:p>
            <a:pPr marL="0" indent="0">
              <a:buNone/>
            </a:pPr>
            <a:r>
              <a:rPr lang="en-US" sz="1100" b="1" dirty="0">
                <a:solidFill>
                  <a:srgbClr val="1E3A8A"/>
                </a:solidFill>
                <a:latin typeface="Calibri" pitchFamily="34" charset="0"/>
                <a:ea typeface="Calibri" pitchFamily="34" charset="-122"/>
                <a:cs typeface="Calibri" pitchFamily="34" charset="-120"/>
              </a:rPr>
              <a:t>[4]</a:t>
            </a:r>
            <a:endParaRPr lang="en-US" sz="1100" dirty="0"/>
          </a:p>
        </p:txBody>
      </p:sp>
      <p:sp>
        <p:nvSpPr>
          <p:cNvPr id="13" name="Text 10"/>
          <p:cNvSpPr/>
          <p:nvPr/>
        </p:nvSpPr>
        <p:spPr>
          <a:xfrm>
            <a:off x="1097280" y="4543806"/>
            <a:ext cx="10454335" cy="548640"/>
          </a:xfrm>
          <a:prstGeom prst="rect">
            <a:avLst/>
          </a:prstGeom>
          <a:noFill/>
          <a:ln/>
        </p:spPr>
        <p:txBody>
          <a:bodyPr wrap="square" rtlCol="0" anchor="ctr"/>
          <a:lstStyle/>
          <a:p>
            <a:pPr marL="0" indent="0">
              <a:lnSpc>
                <a:spcPct val="112000"/>
              </a:lnSpc>
              <a:buNone/>
            </a:pPr>
            <a:r>
              <a:rPr lang="en-US" sz="1080" dirty="0">
                <a:solidFill>
                  <a:srgbClr val="1A1A1A"/>
                </a:solidFill>
                <a:latin typeface="Calibri" pitchFamily="34" charset="0"/>
                <a:ea typeface="Calibri" pitchFamily="34" charset="-122"/>
                <a:cs typeface="Calibri" pitchFamily="34" charset="-120"/>
              </a:rPr>
              <a:t>D. Li, Y. Wang, W. J. Yan, and W. X. Ren, "Acoustic emission wave classification for rail crack monitoring based on synchrosqueezed wavelet transform and multi-branch convolutional neural network," Structural Health Monitoring, vol. 20, no. 4, pp. 1563–1582, 2021.</a:t>
            </a:r>
            <a:endParaRPr lang="en-US" sz="1080" dirty="0"/>
          </a:p>
        </p:txBody>
      </p:sp>
      <p:sp>
        <p:nvSpPr>
          <p:cNvPr id="14" name="Text 11"/>
          <p:cNvSpPr/>
          <p:nvPr/>
        </p:nvSpPr>
        <p:spPr>
          <a:xfrm>
            <a:off x="640080" y="5257038"/>
            <a:ext cx="457200" cy="548640"/>
          </a:xfrm>
          <a:prstGeom prst="rect">
            <a:avLst/>
          </a:prstGeom>
          <a:noFill/>
          <a:ln/>
        </p:spPr>
        <p:txBody>
          <a:bodyPr wrap="square" rtlCol="0" anchor="ctr"/>
          <a:lstStyle/>
          <a:p>
            <a:pPr marL="0" indent="0">
              <a:buNone/>
            </a:pPr>
            <a:r>
              <a:rPr lang="en-US" sz="1100" b="1" dirty="0">
                <a:solidFill>
                  <a:srgbClr val="1E3A8A"/>
                </a:solidFill>
                <a:latin typeface="Calibri" pitchFamily="34" charset="0"/>
                <a:ea typeface="Calibri" pitchFamily="34" charset="-122"/>
                <a:cs typeface="Calibri" pitchFamily="34" charset="-120"/>
              </a:rPr>
              <a:t>[5]</a:t>
            </a:r>
            <a:endParaRPr lang="en-US" sz="1100" dirty="0"/>
          </a:p>
        </p:txBody>
      </p:sp>
      <p:sp>
        <p:nvSpPr>
          <p:cNvPr id="15" name="Text 12"/>
          <p:cNvSpPr/>
          <p:nvPr/>
        </p:nvSpPr>
        <p:spPr>
          <a:xfrm>
            <a:off x="1097280" y="5257038"/>
            <a:ext cx="10454335" cy="548640"/>
          </a:xfrm>
          <a:prstGeom prst="rect">
            <a:avLst/>
          </a:prstGeom>
          <a:noFill/>
          <a:ln/>
        </p:spPr>
        <p:txBody>
          <a:bodyPr wrap="square" rtlCol="0" anchor="ctr"/>
          <a:lstStyle/>
          <a:p>
            <a:pPr marL="0" indent="0">
              <a:lnSpc>
                <a:spcPct val="112000"/>
              </a:lnSpc>
              <a:buNone/>
            </a:pPr>
            <a:r>
              <a:rPr lang="en-US" sz="1080" dirty="0">
                <a:solidFill>
                  <a:srgbClr val="1A1A1A"/>
                </a:solidFill>
                <a:latin typeface="Calibri" pitchFamily="34" charset="0"/>
                <a:ea typeface="Calibri" pitchFamily="34" charset="-122"/>
                <a:cs typeface="Calibri" pitchFamily="34" charset="-120"/>
              </a:rPr>
              <a:t>Espressif Systems, "ESP32 Series Datasheet," Espressif Systems, 2023. [Online]. Available: https://www.espressif.com/en/products/socs/esp32</a:t>
            </a:r>
            <a:endParaRPr lang="en-US" sz="1080" dirty="0"/>
          </a:p>
        </p:txBody>
      </p:sp>
      <p:sp>
        <p:nvSpPr>
          <p:cNvPr id="16" name="Text 13"/>
          <p:cNvSpPr/>
          <p:nvPr/>
        </p:nvSpPr>
        <p:spPr>
          <a:xfrm>
            <a:off x="640080" y="5970270"/>
            <a:ext cx="457200" cy="548640"/>
          </a:xfrm>
          <a:prstGeom prst="rect">
            <a:avLst/>
          </a:prstGeom>
          <a:noFill/>
          <a:ln/>
        </p:spPr>
        <p:txBody>
          <a:bodyPr wrap="square" rtlCol="0" anchor="ctr"/>
          <a:lstStyle/>
          <a:p>
            <a:pPr marL="0" indent="0">
              <a:buNone/>
            </a:pPr>
            <a:r>
              <a:rPr lang="en-US" sz="1100" b="1" dirty="0">
                <a:solidFill>
                  <a:srgbClr val="1E3A8A"/>
                </a:solidFill>
                <a:latin typeface="Calibri" pitchFamily="34" charset="0"/>
                <a:ea typeface="Calibri" pitchFamily="34" charset="-122"/>
                <a:cs typeface="Calibri" pitchFamily="34" charset="-120"/>
              </a:rPr>
              <a:t>[6]</a:t>
            </a:r>
            <a:endParaRPr lang="en-US" sz="1100" dirty="0"/>
          </a:p>
        </p:txBody>
      </p:sp>
      <p:sp>
        <p:nvSpPr>
          <p:cNvPr id="17" name="Text 14"/>
          <p:cNvSpPr/>
          <p:nvPr/>
        </p:nvSpPr>
        <p:spPr>
          <a:xfrm>
            <a:off x="1097280" y="5970270"/>
            <a:ext cx="10454335" cy="548640"/>
          </a:xfrm>
          <a:prstGeom prst="rect">
            <a:avLst/>
          </a:prstGeom>
          <a:noFill/>
          <a:ln/>
        </p:spPr>
        <p:txBody>
          <a:bodyPr wrap="square" rtlCol="0" anchor="ctr"/>
          <a:lstStyle/>
          <a:p>
            <a:pPr marL="0" indent="0">
              <a:lnSpc>
                <a:spcPct val="112000"/>
              </a:lnSpc>
              <a:buNone/>
            </a:pPr>
            <a:r>
              <a:rPr lang="en-US" sz="1080" dirty="0">
                <a:solidFill>
                  <a:srgbClr val="1A1A1A"/>
                </a:solidFill>
                <a:latin typeface="Calibri" pitchFamily="34" charset="0"/>
                <a:ea typeface="Calibri" pitchFamily="34" charset="-122"/>
                <a:cs typeface="Calibri" pitchFamily="34" charset="-120"/>
              </a:rPr>
              <a:t>Google Inc., "TensorFlow: An end-to-end open-source machine learning platform," TensorFlow Documentation. [Online]. Available: https://www.tensorflow.org</a:t>
            </a:r>
            <a:endParaRPr lang="en-US" sz="1080" dirty="0"/>
          </a:p>
        </p:txBody>
      </p:sp>
      <p:sp>
        <p:nvSpPr>
          <p:cNvPr id="19" name="Text 15"/>
          <p:cNvSpPr/>
          <p:nvPr/>
        </p:nvSpPr>
        <p:spPr>
          <a:xfrm>
            <a:off x="11551615" y="7369302"/>
            <a:ext cx="457200" cy="274320"/>
          </a:xfrm>
          <a:prstGeom prst="rect">
            <a:avLst/>
          </a:prstGeom>
          <a:noFill/>
          <a:ln/>
        </p:spPr>
        <p:txBody>
          <a:bodyPr wrap="square" rtlCol="0" anchor="ctr"/>
          <a:lstStyle/>
          <a:p>
            <a:pPr marL="0" indent="0" algn="r">
              <a:buNone/>
            </a:pPr>
            <a:r>
              <a:rPr lang="en-US" sz="900" dirty="0">
                <a:solidFill>
                  <a:srgbClr val="5B5B5B"/>
                </a:solidFill>
                <a:latin typeface="Calibri" pitchFamily="34" charset="0"/>
                <a:ea typeface="Calibri" pitchFamily="34" charset="-122"/>
                <a:cs typeface="Calibri" pitchFamily="34" charset="-120"/>
              </a:rPr>
              <a:t>09</a:t>
            </a:r>
            <a:endParaRPr lang="en-US" sz="90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1682</Words>
  <Application>Microsoft Office PowerPoint</Application>
  <PresentationFormat>Widescreen</PresentationFormat>
  <Paragraphs>192</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Electronics and Instrumentation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EDI Project Team</dc:creator>
  <cp:lastModifiedBy>Atharva Bhagwat</cp:lastModifiedBy>
  <cp:revision>4</cp:revision>
  <dcterms:created xsi:type="dcterms:W3CDTF">2026-08-25T19:11:56Z</dcterms:created>
  <dcterms:modified xsi:type="dcterms:W3CDTF">2026-08-27T05:07:34Z</dcterms:modified>
</cp:coreProperties>
</file>